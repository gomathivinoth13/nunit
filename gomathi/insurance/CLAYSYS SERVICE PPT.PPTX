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8"/>
  </p:notesMasterIdLst>
  <p:handoutMasterIdLst>
    <p:handoutMasterId r:id="rId19"/>
  </p:handoutMasterIdLst>
  <p:sldIdLst>
    <p:sldId id="350" r:id="rId2"/>
    <p:sldId id="337" r:id="rId3"/>
    <p:sldId id="340" r:id="rId4"/>
    <p:sldId id="375" r:id="rId5"/>
    <p:sldId id="339" r:id="rId6"/>
    <p:sldId id="351" r:id="rId7"/>
    <p:sldId id="352" r:id="rId8"/>
    <p:sldId id="353" r:id="rId9"/>
    <p:sldId id="366" r:id="rId10"/>
    <p:sldId id="378" r:id="rId11"/>
    <p:sldId id="381" r:id="rId12"/>
    <p:sldId id="379" r:id="rId13"/>
    <p:sldId id="380" r:id="rId14"/>
    <p:sldId id="382" r:id="rId15"/>
    <p:sldId id="368" r:id="rId16"/>
    <p:sldId id="330" r:id="rId17"/>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itchFamily="34" charset="0"/>
        <a:ea typeface="+mn-ea"/>
        <a:cs typeface="Arial" pitchFamily="34" charset="0"/>
      </a:defRPr>
    </a:lvl1pPr>
    <a:lvl2pPr marL="457200" algn="l" defTabSz="457200" rtl="0" fontAlgn="base">
      <a:spcBef>
        <a:spcPct val="0"/>
      </a:spcBef>
      <a:spcAft>
        <a:spcPct val="0"/>
      </a:spcAft>
      <a:defRPr kern="1200">
        <a:solidFill>
          <a:schemeClr val="tx1"/>
        </a:solidFill>
        <a:latin typeface="Arial" pitchFamily="34" charset="0"/>
        <a:ea typeface="+mn-ea"/>
        <a:cs typeface="Arial" pitchFamily="34" charset="0"/>
      </a:defRPr>
    </a:lvl2pPr>
    <a:lvl3pPr marL="914400" algn="l" defTabSz="457200"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defTabSz="457200"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defTabSz="457200"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 id="2" name="Binu Paul" initials="BP" lastIdx="1" clrIdx="1">
    <p:extLst>
      <p:ext uri="{19B8F6BF-5375-455C-9EA6-DF929625EA0E}">
        <p15:presenceInfo xmlns:p15="http://schemas.microsoft.com/office/powerpoint/2012/main" userId="S-1-5-21-2617669959-506376626-3774943168-11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00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9821" autoAdjust="0"/>
  </p:normalViewPr>
  <p:slideViewPr>
    <p:cSldViewPr snapToObjects="1">
      <p:cViewPr varScale="1">
        <p:scale>
          <a:sx n="72" d="100"/>
          <a:sy n="72" d="100"/>
        </p:scale>
        <p:origin x="1350" y="54"/>
      </p:cViewPr>
      <p:guideLst>
        <p:guide orient="horz" pos="2160"/>
        <p:guide pos="2880"/>
      </p:guideLst>
    </p:cSldViewPr>
  </p:slideViewPr>
  <p:outlineViewPr>
    <p:cViewPr>
      <p:scale>
        <a:sx n="33" d="100"/>
        <a:sy n="33" d="100"/>
      </p:scale>
      <p:origin x="0" y="8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74353D57-2C3E-4787-90F7-C4B0C85B8A9E}" type="datetimeFigureOut">
              <a:rPr lang="en-IN"/>
              <a:pPr>
                <a:defRPr/>
              </a:pPr>
              <a:t>20-12-2022</a:t>
            </a:fld>
            <a:endParaRPr lang="en-IN"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C61765F-B77F-426B-897A-16CEF3DD49B9}" type="slidenum">
              <a:rPr lang="en-IN"/>
              <a:pPr>
                <a:defRPr/>
              </a:pPr>
              <a:t>‹#›</a:t>
            </a:fld>
            <a:endParaRPr lang="en-I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6E380D6-FFB9-473F-A072-A41BDB89CF1A}" type="datetimeFigureOut">
              <a:rPr lang="en-IN"/>
              <a:pPr>
                <a:defRPr/>
              </a:pPr>
              <a:t>20-12-2022</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0AF828B-68B7-442B-9E3C-BBE7175509D9}" type="slidenum">
              <a:rPr lang="en-IN"/>
              <a:pPr>
                <a:defRPr/>
              </a:pPr>
              <a:t>‹#›</a:t>
            </a:fld>
            <a:endParaRPr lang="en-I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fld id="{E91999C3-63E6-47F1-A6D0-16627D6CEB9C}" type="datetime1">
              <a:rPr lang="en-IN"/>
              <a:pPr>
                <a:defRPr/>
              </a:pPr>
              <a:t>20-12-2022</a:t>
            </a:fld>
            <a:endParaRPr lang="en-IN" dirty="0"/>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en-IN" dirty="0"/>
              <a:t>
              </a:t>
            </a:r>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8B14FA77-55EC-4B73-885B-1FC9BD757C1F}" type="slidenum">
              <a:rPr lang="en-IN"/>
              <a:pPr>
                <a:defRPr/>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BA38739D-B9A6-4095-BB71-030A9BD247B2}" type="datetime1">
              <a:rPr lang="en-IN"/>
              <a:pPr>
                <a:defRPr/>
              </a:pPr>
              <a:t>20-12-2022</a:t>
            </a:fld>
            <a:endParaRPr lang="en-IN" dirty="0"/>
          </a:p>
        </p:txBody>
      </p:sp>
      <p:sp>
        <p:nvSpPr>
          <p:cNvPr id="5" name="Footer Placeholder 2"/>
          <p:cNvSpPr>
            <a:spLocks noGrp="1"/>
          </p:cNvSpPr>
          <p:nvPr>
            <p:ph type="ftr" sz="quarter" idx="11"/>
          </p:nvPr>
        </p:nvSpPr>
        <p:spPr/>
        <p:txBody>
          <a:bodyPr/>
          <a:lstStyle>
            <a:lvl1pPr>
              <a:defRPr/>
            </a:lvl1pPr>
          </a:lstStyle>
          <a:p>
            <a:pPr>
              <a:defRPr/>
            </a:pPr>
            <a:r>
              <a:rPr lang="en-IN" dirty="0"/>
              <a:t>
              </a:t>
            </a:r>
          </a:p>
        </p:txBody>
      </p:sp>
      <p:sp>
        <p:nvSpPr>
          <p:cNvPr id="6" name="Slide Number Placeholder 22"/>
          <p:cNvSpPr>
            <a:spLocks noGrp="1"/>
          </p:cNvSpPr>
          <p:nvPr>
            <p:ph type="sldNum" sz="quarter" idx="12"/>
          </p:nvPr>
        </p:nvSpPr>
        <p:spPr/>
        <p:txBody>
          <a:bodyPr/>
          <a:lstStyle>
            <a:lvl1pPr>
              <a:defRPr/>
            </a:lvl1pPr>
          </a:lstStyle>
          <a:p>
            <a:pPr>
              <a:defRPr/>
            </a:pPr>
            <a:fld id="{CBC6B376-C8EE-42C6-A5DA-D65C215D4F01}" type="slidenum">
              <a:rPr lang="en-IN"/>
              <a:pPr>
                <a:defRPr/>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fld id="{6BF7CE5B-4BC8-44D9-B86B-6773F1A77568}" type="datetime1">
              <a:rPr lang="en-IN"/>
              <a:pPr>
                <a:defRPr/>
              </a:pPr>
              <a:t>20-12-2022</a:t>
            </a:fld>
            <a:endParaRPr lang="en-IN" dirty="0"/>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86906B13-9979-4E1D-877D-8BA7B02EDD10}" type="slidenum">
              <a:rPr lang="en-IN"/>
              <a:pPr>
                <a:defRPr/>
              </a:pPr>
              <a:t>‹#›</a:t>
            </a:fld>
            <a:endParaRPr lang="en-IN" dirty="0"/>
          </a:p>
        </p:txBody>
      </p:sp>
      <p:sp>
        <p:nvSpPr>
          <p:cNvPr id="9" name="Footer Placeholder 13"/>
          <p:cNvSpPr>
            <a:spLocks noGrp="1"/>
          </p:cNvSpPr>
          <p:nvPr>
            <p:ph type="ftr" sz="quarter" idx="12"/>
          </p:nvPr>
        </p:nvSpPr>
        <p:spPr/>
        <p:txBody>
          <a:bodyPr/>
          <a:lstStyle>
            <a:lvl1pPr>
              <a:defRPr/>
            </a:lvl1pPr>
          </a:lstStyle>
          <a:p>
            <a:pPr>
              <a:defRPr/>
            </a:pPr>
            <a:r>
              <a:rPr lang="en-IN" dirty="0"/>
              <a: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fld id="{A3AE05C8-2759-4F66-B064-B3BE450B997F}" type="datetime1">
              <a:rPr lang="en-IN"/>
              <a:pPr>
                <a:defRPr/>
              </a:pPr>
              <a:t>20-12-2022</a:t>
            </a:fld>
            <a:endParaRPr lang="en-IN" dirty="0"/>
          </a:p>
        </p:txBody>
      </p:sp>
      <p:sp>
        <p:nvSpPr>
          <p:cNvPr id="6" name="Slide Number Placeholder 9"/>
          <p:cNvSpPr>
            <a:spLocks noGrp="1"/>
          </p:cNvSpPr>
          <p:nvPr>
            <p:ph type="sldNum" sz="quarter" idx="11"/>
          </p:nvPr>
        </p:nvSpPr>
        <p:spPr/>
        <p:txBody>
          <a:bodyPr rtlCol="0"/>
          <a:lstStyle>
            <a:lvl1pPr>
              <a:defRPr/>
            </a:lvl1pPr>
          </a:lstStyle>
          <a:p>
            <a:pPr>
              <a:defRPr/>
            </a:pPr>
            <a:fld id="{B8669CBA-16A4-44CD-A4E6-1AE5FE326E87}" type="slidenum">
              <a:rPr lang="en-IN"/>
              <a:pPr>
                <a:defRPr/>
              </a:pPr>
              <a:t>‹#›</a:t>
            </a:fld>
            <a:endParaRPr lang="en-IN" dirty="0"/>
          </a:p>
        </p:txBody>
      </p:sp>
      <p:sp>
        <p:nvSpPr>
          <p:cNvPr id="7" name="Footer Placeholder 11"/>
          <p:cNvSpPr>
            <a:spLocks noGrp="1"/>
          </p:cNvSpPr>
          <p:nvPr>
            <p:ph type="ftr" sz="quarter" idx="12"/>
          </p:nvPr>
        </p:nvSpPr>
        <p:spPr/>
        <p:txBody>
          <a:bodyPr rtlCol="0"/>
          <a:lstStyle>
            <a:lvl1pPr>
              <a:defRPr/>
            </a:lvl1pPr>
          </a:lstStyle>
          <a:p>
            <a:pPr>
              <a:defRPr/>
            </a:pPr>
            <a:r>
              <a:rPr lang="en-IN" dirty="0"/>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fld id="{9EF279CF-88BC-4028-A1F3-E8BFBCCDF7B2}" type="datetime1">
              <a:rPr lang="en-IN"/>
              <a:pPr>
                <a:defRPr/>
              </a:pPr>
              <a:t>20-12-2022</a:t>
            </a:fld>
            <a:endParaRPr lang="en-IN" dirty="0"/>
          </a:p>
        </p:txBody>
      </p:sp>
      <p:sp>
        <p:nvSpPr>
          <p:cNvPr id="8" name="Slide Number Placeholder 11"/>
          <p:cNvSpPr>
            <a:spLocks noGrp="1"/>
          </p:cNvSpPr>
          <p:nvPr>
            <p:ph type="sldNum" sz="quarter" idx="11"/>
          </p:nvPr>
        </p:nvSpPr>
        <p:spPr/>
        <p:txBody>
          <a:bodyPr rtlCol="0"/>
          <a:lstStyle>
            <a:lvl1pPr>
              <a:defRPr/>
            </a:lvl1pPr>
          </a:lstStyle>
          <a:p>
            <a:pPr>
              <a:defRPr/>
            </a:pPr>
            <a:fld id="{04700FAA-0A29-463C-9F15-40FB44335D2F}" type="slidenum">
              <a:rPr lang="en-IN"/>
              <a:pPr>
                <a:defRPr/>
              </a:pPr>
              <a:t>‹#›</a:t>
            </a:fld>
            <a:endParaRPr lang="en-IN" dirty="0"/>
          </a:p>
        </p:txBody>
      </p:sp>
      <p:sp>
        <p:nvSpPr>
          <p:cNvPr id="9" name="Footer Placeholder 13"/>
          <p:cNvSpPr>
            <a:spLocks noGrp="1"/>
          </p:cNvSpPr>
          <p:nvPr>
            <p:ph type="ftr" sz="quarter" idx="12"/>
          </p:nvPr>
        </p:nvSpPr>
        <p:spPr/>
        <p:txBody>
          <a:bodyPr rtlCol="0"/>
          <a:lstStyle>
            <a:lvl1pPr>
              <a:defRPr/>
            </a:lvl1pPr>
          </a:lstStyle>
          <a:p>
            <a:pPr>
              <a:defRPr/>
            </a:pPr>
            <a:r>
              <a:rPr lang="en-IN" dirty="0"/>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0335C79B-F9EF-4DA1-AEEF-CE5DA58861E2}" type="datetime1">
              <a:rPr lang="en-IN"/>
              <a:pPr>
                <a:defRPr/>
              </a:pPr>
              <a:t>20-12-2022</a:t>
            </a:fld>
            <a:endParaRPr lang="en-IN" dirty="0"/>
          </a:p>
        </p:txBody>
      </p:sp>
      <p:sp>
        <p:nvSpPr>
          <p:cNvPr id="4" name="Footer Placeholder 2"/>
          <p:cNvSpPr>
            <a:spLocks noGrp="1"/>
          </p:cNvSpPr>
          <p:nvPr>
            <p:ph type="ftr" sz="quarter" idx="11"/>
          </p:nvPr>
        </p:nvSpPr>
        <p:spPr/>
        <p:txBody>
          <a:bodyPr/>
          <a:lstStyle>
            <a:lvl1pPr>
              <a:defRPr/>
            </a:lvl1pPr>
          </a:lstStyle>
          <a:p>
            <a:pPr>
              <a:defRPr/>
            </a:pPr>
            <a:r>
              <a:rPr lang="en-IN" dirty="0"/>
              <a:t>
              </a:t>
            </a:r>
          </a:p>
        </p:txBody>
      </p:sp>
      <p:sp>
        <p:nvSpPr>
          <p:cNvPr id="5" name="Slide Number Placeholder 22"/>
          <p:cNvSpPr>
            <a:spLocks noGrp="1"/>
          </p:cNvSpPr>
          <p:nvPr>
            <p:ph type="sldNum" sz="quarter" idx="12"/>
          </p:nvPr>
        </p:nvSpPr>
        <p:spPr/>
        <p:txBody>
          <a:bodyPr/>
          <a:lstStyle>
            <a:lvl1pPr>
              <a:defRPr/>
            </a:lvl1pPr>
          </a:lstStyle>
          <a:p>
            <a:pPr>
              <a:defRPr/>
            </a:pPr>
            <a:fld id="{B345EB11-6B70-4246-93D8-47C1D70F52F1}" type="slidenum">
              <a:rPr lang="en-IN"/>
              <a:pPr>
                <a:defRPr/>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358D2E63-CF37-426F-90E7-3BDDA7D6EF10}" type="datetime1">
              <a:rPr lang="en-IN"/>
              <a:pPr>
                <a:defRPr/>
              </a:pPr>
              <a:t>20-12-2022</a:t>
            </a:fld>
            <a:endParaRPr lang="en-IN" dirty="0"/>
          </a:p>
        </p:txBody>
      </p:sp>
      <p:sp>
        <p:nvSpPr>
          <p:cNvPr id="3" name="Footer Placeholder 2"/>
          <p:cNvSpPr>
            <a:spLocks noGrp="1"/>
          </p:cNvSpPr>
          <p:nvPr>
            <p:ph type="ftr" sz="quarter" idx="11"/>
          </p:nvPr>
        </p:nvSpPr>
        <p:spPr/>
        <p:txBody>
          <a:bodyPr/>
          <a:lstStyle>
            <a:lvl1pPr>
              <a:defRPr/>
            </a:lvl1pPr>
          </a:lstStyle>
          <a:p>
            <a:pPr>
              <a:defRPr/>
            </a:pPr>
            <a:r>
              <a:rPr lang="en-IN" dirty="0"/>
              <a:t>
              </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E4D6037D-7E6C-4005-B3CD-5B5B9E9A8389}" type="slidenum">
              <a:rPr lang="en-IN"/>
              <a:pPr>
                <a:defRPr/>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6C1A0044-7450-4120-AC33-78769EA897A9}" type="datetime1">
              <a:rPr lang="en-IN"/>
              <a:pPr>
                <a:defRPr/>
              </a:pPr>
              <a:t>20-12-2022</a:t>
            </a:fld>
            <a:endParaRPr lang="en-IN" dirty="0"/>
          </a:p>
        </p:txBody>
      </p:sp>
      <p:sp>
        <p:nvSpPr>
          <p:cNvPr id="6" name="Footer Placeholder 2"/>
          <p:cNvSpPr>
            <a:spLocks noGrp="1"/>
          </p:cNvSpPr>
          <p:nvPr>
            <p:ph type="ftr" sz="quarter" idx="11"/>
          </p:nvPr>
        </p:nvSpPr>
        <p:spPr/>
        <p:txBody>
          <a:bodyPr/>
          <a:lstStyle>
            <a:lvl1pPr>
              <a:defRPr/>
            </a:lvl1pPr>
          </a:lstStyle>
          <a:p>
            <a:pPr>
              <a:defRPr/>
            </a:pPr>
            <a:r>
              <a:rPr lang="en-IN" dirty="0"/>
              <a:t>
              </a:t>
            </a:r>
          </a:p>
        </p:txBody>
      </p:sp>
      <p:sp>
        <p:nvSpPr>
          <p:cNvPr id="7" name="Slide Number Placeholder 22"/>
          <p:cNvSpPr>
            <a:spLocks noGrp="1"/>
          </p:cNvSpPr>
          <p:nvPr>
            <p:ph type="sldNum" sz="quarter" idx="12"/>
          </p:nvPr>
        </p:nvSpPr>
        <p:spPr/>
        <p:txBody>
          <a:bodyPr/>
          <a:lstStyle>
            <a:lvl1pPr>
              <a:defRPr/>
            </a:lvl1pPr>
          </a:lstStyle>
          <a:p>
            <a:pPr>
              <a:defRPr/>
            </a:pPr>
            <a:fld id="{D959EDB3-0F29-4C11-BD38-A67EF8B2FD85}" type="slidenum">
              <a:rPr lang="en-IN"/>
              <a:pPr>
                <a:defRPr/>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dirty="0"/>
              <a:t>Click icon to add picture</a:t>
            </a:r>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fld id="{B784EBE2-DA46-4063-9771-ABD307D42EC6}" type="datetime1">
              <a:rPr lang="en-IN"/>
              <a:pPr>
                <a:defRPr/>
              </a:pPr>
              <a:t>20-12-2022</a:t>
            </a:fld>
            <a:endParaRPr lang="en-IN" dirty="0"/>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DB61BD31-0D79-4C98-A485-54F3CF81A98C}" type="slidenum">
              <a:rPr lang="en-IN"/>
              <a:pPr>
                <a:defRPr/>
              </a:pPr>
              <a:t>‹#›</a:t>
            </a:fld>
            <a:endParaRPr lang="en-IN" dirty="0"/>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en-IN" dirty="0"/>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8DFE87A3-DA80-4584-BDD9-0ACFCBF738C6}" type="datetime1">
              <a:rPr lang="en-IN"/>
              <a:pPr>
                <a:defRPr/>
              </a:pPr>
              <a:t>20-12-2022</a:t>
            </a:fld>
            <a:endParaRPr lang="en-IN" dirty="0"/>
          </a:p>
        </p:txBody>
      </p:sp>
      <p:sp>
        <p:nvSpPr>
          <p:cNvPr id="5" name="Footer Placeholder 2"/>
          <p:cNvSpPr>
            <a:spLocks noGrp="1"/>
          </p:cNvSpPr>
          <p:nvPr>
            <p:ph type="ftr" sz="quarter" idx="11"/>
          </p:nvPr>
        </p:nvSpPr>
        <p:spPr/>
        <p:txBody>
          <a:bodyPr/>
          <a:lstStyle>
            <a:lvl1pPr>
              <a:defRPr/>
            </a:lvl1pPr>
          </a:lstStyle>
          <a:p>
            <a:pPr>
              <a:defRPr/>
            </a:pPr>
            <a:r>
              <a:rPr lang="en-IN" dirty="0"/>
              <a:t>
              </a:t>
            </a:r>
          </a:p>
        </p:txBody>
      </p:sp>
      <p:sp>
        <p:nvSpPr>
          <p:cNvPr id="6" name="Slide Number Placeholder 22"/>
          <p:cNvSpPr>
            <a:spLocks noGrp="1"/>
          </p:cNvSpPr>
          <p:nvPr>
            <p:ph type="sldNum" sz="quarter" idx="12"/>
          </p:nvPr>
        </p:nvSpPr>
        <p:spPr/>
        <p:txBody>
          <a:bodyPr/>
          <a:lstStyle>
            <a:lvl1pPr>
              <a:defRPr/>
            </a:lvl1pPr>
          </a:lstStyle>
          <a:p>
            <a:pPr>
              <a:defRPr/>
            </a:pPr>
            <a:fld id="{7537DB98-6E87-4003-8FCC-D9005D4C5F94}" type="slidenum">
              <a:rPr lang="en-IN"/>
              <a:pPr>
                <a:defRPr/>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fld id="{7AB15990-CE16-4E2D-9A4B-3EBCE1F1A34D}" type="datetime1">
              <a:rPr lang="en-IN"/>
              <a:pPr>
                <a:defRPr/>
              </a:pPr>
              <a:t>20-12-2022</a:t>
            </a:fld>
            <a:endParaRPr lang="en-IN" dirty="0"/>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en-IN" dirty="0"/>
              <a:t>
              </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F4FA8F7B-AB09-4FC3-AFC7-773D8743A05B}" type="slidenum">
              <a:rPr lang="en-IN"/>
              <a:pPr>
                <a:defRPr/>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21"/>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12"/>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fontAlgn="auto" latinLnBrk="0" hangingPunct="1">
              <a:spcBef>
                <a:spcPts val="0"/>
              </a:spcBef>
              <a:spcAft>
                <a:spcPts val="0"/>
              </a:spcAft>
              <a:defRPr kumimoji="0" sz="1400">
                <a:solidFill>
                  <a:schemeClr val="tx2"/>
                </a:solidFill>
                <a:latin typeface="+mn-lt"/>
                <a:cs typeface="+mn-cs"/>
              </a:defRPr>
            </a:lvl1pPr>
          </a:lstStyle>
          <a:p>
            <a:pPr>
              <a:defRPr/>
            </a:pPr>
            <a:fld id="{C745CEAC-BCCB-4B50-9319-BAC746A01823}" type="datetime1">
              <a:rPr lang="en-IN"/>
              <a:pPr>
                <a:defRPr/>
              </a:pPr>
              <a:t>20-12-2022</a:t>
            </a:fld>
            <a:endParaRPr lang="en-IN" dirty="0"/>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r>
              <a:rPr lang="en-IN" dirty="0"/>
              <a:t>
              </a:t>
            </a:r>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fontAlgn="auto" latinLnBrk="0" hangingPunct="1">
              <a:spcBef>
                <a:spcPts val="0"/>
              </a:spcBef>
              <a:spcAft>
                <a:spcPts val="0"/>
              </a:spcAft>
              <a:defRPr kumimoji="0" sz="1400" b="1">
                <a:solidFill>
                  <a:srgbClr val="FFFFFF"/>
                </a:solidFill>
                <a:latin typeface="+mn-lt"/>
                <a:cs typeface="+mn-cs"/>
              </a:defRPr>
            </a:lvl1pPr>
          </a:lstStyle>
          <a:p>
            <a:pPr>
              <a:defRPr/>
            </a:pPr>
            <a:fld id="{BD313AD2-1DB6-4E29-A069-66E034B91374}" type="slidenum">
              <a:rPr lang="en-IN"/>
              <a:pPr>
                <a:defRPr/>
              </a:pPr>
              <a:t>‹#›</a:t>
            </a:fld>
            <a:endParaRPr lang="en-IN" dirty="0"/>
          </a:p>
        </p:txBody>
      </p:sp>
      <p:sp>
        <p:nvSpPr>
          <p:cNvPr id="10" name="TextBox 9"/>
          <p:cNvSpPr txBox="1"/>
          <p:nvPr userDrawn="1"/>
        </p:nvSpPr>
        <p:spPr>
          <a:xfrm>
            <a:off x="533400" y="6434138"/>
            <a:ext cx="2678113" cy="246062"/>
          </a:xfrm>
          <a:prstGeom prst="rect">
            <a:avLst/>
          </a:prstGeom>
          <a:noFill/>
        </p:spPr>
        <p:txBody>
          <a:bodyPr wrap="none">
            <a:spAutoFit/>
          </a:bodyPr>
          <a:lstStyle/>
          <a:p>
            <a:pPr fontAlgn="auto">
              <a:spcBef>
                <a:spcPts val="0"/>
              </a:spcBef>
              <a:spcAft>
                <a:spcPts val="0"/>
              </a:spcAft>
              <a:defRPr/>
            </a:pPr>
            <a:r>
              <a:rPr lang="en-US" sz="1000" dirty="0">
                <a:latin typeface="+mn-lt"/>
                <a:cs typeface="+mn-cs"/>
              </a:rPr>
              <a:t>© AMEX INSURANCE BROKERS (INDIA) PVT. LTD. </a:t>
            </a:r>
          </a:p>
        </p:txBody>
      </p:sp>
    </p:spTree>
  </p:cSld>
  <p:clrMap bg1="lt1" tx1="dk1" bg2="lt2" tx2="dk2" accent1="accent1" accent2="accent2" accent3="accent3" accent4="accent4" accent5="accent5" accent6="accent6" hlink="hlink" folHlink="folHlink"/>
  <p:sldLayoutIdLst>
    <p:sldLayoutId id="2147483773" r:id="rId1"/>
    <p:sldLayoutId id="2147483769" r:id="rId2"/>
    <p:sldLayoutId id="2147483774" r:id="rId3"/>
    <p:sldLayoutId id="2147483775" r:id="rId4"/>
    <p:sldLayoutId id="2147483776" r:id="rId5"/>
    <p:sldLayoutId id="2147483770" r:id="rId6"/>
    <p:sldLayoutId id="2147483777" r:id="rId7"/>
    <p:sldLayoutId id="2147483771" r:id="rId8"/>
    <p:sldLayoutId id="2147483778" r:id="rId9"/>
    <p:sldLayoutId id="2147483772" r:id="rId10"/>
    <p:sldLayoutId id="2147483779"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9BBB59"/>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8064A2"/>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anju.george@am-exinsure.com" TargetMode="External"/><Relationship Id="rId2" Type="http://schemas.openxmlformats.org/officeDocument/2006/relationships/hyperlink" Target="mailto:ebclaimskoc4@am-exinsure.co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gmccare@am-exinsure.com" TargetMode="Externa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467F1-BDBF-40A3-AAB0-339850CED439}"/>
              </a:ext>
            </a:extLst>
          </p:cNvPr>
          <p:cNvSpPr>
            <a:spLocks noGrp="1"/>
          </p:cNvSpPr>
          <p:nvPr>
            <p:ph type="title" idx="4294967295"/>
          </p:nvPr>
        </p:nvSpPr>
        <p:spPr>
          <a:xfrm>
            <a:off x="533400" y="1124744"/>
            <a:ext cx="7927032" cy="864096"/>
          </a:xfrm>
        </p:spPr>
        <p:txBody>
          <a:bodyPr/>
          <a:lstStyle/>
          <a:p>
            <a:r>
              <a:rPr lang="en-IN" sz="3600" dirty="0"/>
              <a:t/>
            </a:r>
            <a:br>
              <a:rPr lang="en-IN" sz="3600" dirty="0"/>
            </a:br>
            <a:r>
              <a:rPr lang="en-IN" sz="3600" dirty="0"/>
              <a:t/>
            </a:r>
            <a:br>
              <a:rPr lang="en-IN" sz="3600" dirty="0"/>
            </a:br>
            <a:r>
              <a:rPr lang="en-IN" sz="3600" dirty="0"/>
              <a:t/>
            </a:r>
            <a:br>
              <a:rPr lang="en-IN" sz="3600" dirty="0"/>
            </a:br>
            <a:r>
              <a:rPr lang="en-IN" sz="3600" dirty="0"/>
              <a:t/>
            </a:r>
            <a:br>
              <a:rPr lang="en-IN" sz="3600" dirty="0"/>
            </a:br>
            <a:r>
              <a:rPr lang="en-IN" sz="3600" dirty="0"/>
              <a:t/>
            </a:r>
            <a:br>
              <a:rPr lang="en-IN" sz="3600" dirty="0"/>
            </a:br>
            <a:r>
              <a:rPr lang="en-IN" sz="3600" dirty="0"/>
              <a:t/>
            </a:r>
            <a:br>
              <a:rPr lang="en-IN" sz="3600" dirty="0"/>
            </a:br>
            <a:r>
              <a:rPr lang="en-IN" sz="3600" dirty="0"/>
              <a:t/>
            </a:r>
            <a:br>
              <a:rPr lang="en-IN" sz="3600" dirty="0"/>
            </a:br>
            <a:r>
              <a:rPr lang="en-IN" sz="3600" dirty="0"/>
              <a:t/>
            </a:r>
            <a:br>
              <a:rPr lang="en-IN" sz="3600" dirty="0"/>
            </a:br>
            <a:r>
              <a:rPr lang="en-IN" sz="3200" b="1" dirty="0">
                <a:solidFill>
                  <a:schemeClr val="tx2">
                    <a:lumMod val="60000"/>
                    <a:lumOff val="40000"/>
                  </a:schemeClr>
                </a:solidFill>
              </a:rPr>
              <a:t>Tailor made Group medi claim program for     </a:t>
            </a:r>
            <a:br>
              <a:rPr lang="en-IN" sz="3200" b="1" dirty="0">
                <a:solidFill>
                  <a:schemeClr val="tx2">
                    <a:lumMod val="60000"/>
                    <a:lumOff val="40000"/>
                  </a:schemeClr>
                </a:solidFill>
              </a:rPr>
            </a:br>
            <a:r>
              <a:rPr lang="en-IN" sz="3200" b="1" dirty="0">
                <a:solidFill>
                  <a:schemeClr val="tx2">
                    <a:lumMod val="60000"/>
                    <a:lumOff val="40000"/>
                  </a:schemeClr>
                </a:solidFill>
              </a:rPr>
              <a:t>                   employees &amp; family of    </a:t>
            </a:r>
            <a:r>
              <a:rPr lang="en-IN" sz="3200" dirty="0"/>
              <a:t/>
            </a:r>
            <a:br>
              <a:rPr lang="en-IN" sz="3200" dirty="0"/>
            </a:br>
            <a:r>
              <a:rPr lang="en-IN" sz="3200" dirty="0"/>
              <a:t>      </a:t>
            </a:r>
            <a:br>
              <a:rPr lang="en-IN" sz="3200" dirty="0"/>
            </a:br>
            <a:r>
              <a:rPr lang="en-IN" sz="3200" dirty="0"/>
              <a:t>           </a:t>
            </a:r>
            <a:r>
              <a:rPr lang="en-IN" sz="3200" b="1" dirty="0"/>
              <a:t>M/S  CLAYSYS TECHNOLOGIES PVT LTD</a:t>
            </a:r>
            <a:r>
              <a:rPr lang="en-IN" sz="3200" dirty="0"/>
              <a:t/>
            </a:r>
            <a:br>
              <a:rPr lang="en-IN" sz="3200" dirty="0"/>
            </a:br>
            <a:endParaRPr lang="en-IN" sz="3200" dirty="0"/>
          </a:p>
        </p:txBody>
      </p:sp>
      <p:pic>
        <p:nvPicPr>
          <p:cNvPr id="9" name="Picture 8">
            <a:extLst>
              <a:ext uri="{FF2B5EF4-FFF2-40B4-BE49-F238E27FC236}">
                <a16:creationId xmlns:a16="http://schemas.microsoft.com/office/drawing/2014/main" id="{307B3C8B-CC16-4026-BEE5-4F34F91D84B0}"/>
              </a:ext>
            </a:extLst>
          </p:cNvPr>
          <p:cNvPicPr>
            <a:picLocks noChangeAspect="1"/>
          </p:cNvPicPr>
          <p:nvPr/>
        </p:nvPicPr>
        <p:blipFill>
          <a:blip r:embed="rId2"/>
          <a:stretch>
            <a:fillRect/>
          </a:stretch>
        </p:blipFill>
        <p:spPr>
          <a:xfrm>
            <a:off x="365760" y="6021288"/>
            <a:ext cx="5492540" cy="608112"/>
          </a:xfrm>
          <a:prstGeom prst="rect">
            <a:avLst/>
          </a:prstGeom>
        </p:spPr>
      </p:pic>
      <p:pic>
        <p:nvPicPr>
          <p:cNvPr id="15364" name="Picture 4" descr="Health Insurance Plans for Family: Benefits, Eligibility"/>
          <p:cNvPicPr>
            <a:picLocks noChangeAspect="1" noChangeArrowheads="1"/>
          </p:cNvPicPr>
          <p:nvPr/>
        </p:nvPicPr>
        <p:blipFill>
          <a:blip r:embed="rId3"/>
          <a:srcRect/>
          <a:stretch>
            <a:fillRect/>
          </a:stretch>
        </p:blipFill>
        <p:spPr bwMode="auto">
          <a:xfrm>
            <a:off x="2442007" y="341302"/>
            <a:ext cx="3416293" cy="1566883"/>
          </a:xfrm>
          <a:prstGeom prst="rect">
            <a:avLst/>
          </a:prstGeom>
          <a:noFill/>
        </p:spPr>
      </p:pic>
    </p:spTree>
    <p:extLst>
      <p:ext uri="{BB962C8B-B14F-4D97-AF65-F5344CB8AC3E}">
        <p14:creationId xmlns:p14="http://schemas.microsoft.com/office/powerpoint/2010/main" val="35088315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 </a:t>
            </a:r>
            <a:r>
              <a:rPr lang="en-US" sz="2800" b="1" dirty="0"/>
              <a:t>POLICY DETAILS – GROUP MEDICLAIM EMPLOYEE</a:t>
            </a:r>
          </a:p>
        </p:txBody>
      </p:sp>
      <p:sp>
        <p:nvSpPr>
          <p:cNvPr id="3" name="Content Placeholder 2"/>
          <p:cNvSpPr>
            <a:spLocks noGrp="1"/>
          </p:cNvSpPr>
          <p:nvPr>
            <p:ph sz="quarter" idx="1"/>
          </p:nvPr>
        </p:nvSpPr>
        <p:spPr/>
        <p:txBody>
          <a:bodyPr>
            <a:normAutofit/>
          </a:bodyPr>
          <a:lstStyle/>
          <a:p>
            <a:pPr>
              <a:buFont typeface="Wingdings" pitchFamily="2" charset="2"/>
              <a:buChar char="Ø"/>
              <a:defRPr/>
            </a:pPr>
            <a:endParaRPr lang="en-US" sz="1800" dirty="0">
              <a:latin typeface="+mj-lt"/>
            </a:endParaRPr>
          </a:p>
          <a:p>
            <a:pPr>
              <a:buFont typeface="Wingdings" pitchFamily="2" charset="2"/>
              <a:buChar char="Ø"/>
              <a:defRPr/>
            </a:pPr>
            <a:r>
              <a:rPr lang="en-US" sz="1800" dirty="0">
                <a:latin typeface="+mj-lt"/>
              </a:rPr>
              <a:t>Insurance Company – New India Insurance company </a:t>
            </a:r>
          </a:p>
          <a:p>
            <a:pPr>
              <a:buFont typeface="Wingdings" pitchFamily="2" charset="2"/>
              <a:buChar char="Ø"/>
              <a:defRPr/>
            </a:pPr>
            <a:r>
              <a:rPr lang="en-US" sz="1800" dirty="0">
                <a:latin typeface="+mj-lt"/>
              </a:rPr>
              <a:t>Insurance Broker – Am-ex insurance Brokers (India) Pvt Ltd.</a:t>
            </a:r>
          </a:p>
          <a:p>
            <a:pPr>
              <a:buFont typeface="Wingdings" pitchFamily="2" charset="2"/>
              <a:buChar char="Ø"/>
              <a:defRPr/>
            </a:pPr>
            <a:r>
              <a:rPr lang="en-US" sz="1800" dirty="0">
                <a:latin typeface="+mj-lt"/>
              </a:rPr>
              <a:t>TPA – </a:t>
            </a:r>
            <a:r>
              <a:rPr lang="en-GB" sz="1800" dirty="0"/>
              <a:t>Medi Assist Insurance TPA Pvt Ltd</a:t>
            </a:r>
            <a:endParaRPr lang="en-US" sz="1800" dirty="0">
              <a:latin typeface="+mj-lt"/>
            </a:endParaRPr>
          </a:p>
          <a:p>
            <a:pPr>
              <a:buFont typeface="Wingdings" pitchFamily="2" charset="2"/>
              <a:buChar char="Ø"/>
              <a:defRPr/>
            </a:pPr>
            <a:r>
              <a:rPr lang="en-US" sz="1800" dirty="0">
                <a:latin typeface="+mj-lt"/>
              </a:rPr>
              <a:t>Type of policy – Family Floater</a:t>
            </a:r>
          </a:p>
          <a:p>
            <a:pPr>
              <a:buFont typeface="Wingdings" pitchFamily="2" charset="2"/>
              <a:buChar char="Ø"/>
              <a:defRPr/>
            </a:pPr>
            <a:r>
              <a:rPr lang="en-US" sz="1800" dirty="0">
                <a:latin typeface="+mj-lt"/>
              </a:rPr>
              <a:t>Policy Period- 15/12/2022 To 14/12/2023</a:t>
            </a:r>
          </a:p>
          <a:p>
            <a:pPr>
              <a:buFont typeface="Wingdings" pitchFamily="2" charset="2"/>
              <a:buChar char="Ø"/>
              <a:defRPr/>
            </a:pPr>
            <a:r>
              <a:rPr lang="en-US" sz="1800" dirty="0">
                <a:latin typeface="+mj-lt"/>
              </a:rPr>
              <a:t>Group Definition  - </a:t>
            </a:r>
            <a:r>
              <a:rPr lang="en-IN" sz="1800" dirty="0"/>
              <a:t>Self , Spouse, 3 dependant Children.</a:t>
            </a:r>
            <a:r>
              <a:rPr lang="en-GB" sz="1800" dirty="0"/>
              <a:t>Maximum age for children under the policy </a:t>
            </a:r>
            <a:r>
              <a:rPr lang="en-GB" sz="1800" dirty="0" err="1"/>
              <a:t>upto</a:t>
            </a:r>
            <a:r>
              <a:rPr lang="en-GB" sz="1800" dirty="0"/>
              <a:t> 25 years only.</a:t>
            </a:r>
            <a:endParaRPr lang="en-IN" sz="1800" dirty="0"/>
          </a:p>
          <a:p>
            <a:pPr>
              <a:buFont typeface="Wingdings" pitchFamily="2" charset="2"/>
              <a:buChar char="Ø"/>
              <a:defRPr/>
            </a:pPr>
            <a:r>
              <a:rPr lang="en-US" sz="1800" dirty="0">
                <a:latin typeface="+mj-lt"/>
              </a:rPr>
              <a:t>Sum Insured –  INR 3</a:t>
            </a:r>
            <a:r>
              <a:rPr lang="en-GB" sz="1800" dirty="0"/>
              <a:t>,00,000 PER FAMILY </a:t>
            </a:r>
            <a:endParaRPr lang="en-US" sz="1800" dirty="0">
              <a:latin typeface="+mj-lt"/>
            </a:endParaRPr>
          </a:p>
          <a:p>
            <a:pPr>
              <a:buFont typeface="Wingdings" pitchFamily="2" charset="2"/>
              <a:buChar char="Ø"/>
              <a:defRPr/>
            </a:pPr>
            <a:r>
              <a:rPr lang="en-US" sz="1800" dirty="0">
                <a:latin typeface="+mj-lt"/>
              </a:rPr>
              <a:t>Room rent &amp; ICU charges  –  Actuals</a:t>
            </a:r>
          </a:p>
          <a:p>
            <a:pPr>
              <a:buFont typeface="Wingdings" pitchFamily="2" charset="2"/>
              <a:buChar char="Ø"/>
              <a:defRPr/>
            </a:pPr>
            <a:r>
              <a:rPr lang="en-US" sz="1800" dirty="0">
                <a:latin typeface="+mj-lt"/>
              </a:rPr>
              <a:t>Pre and post hospitalization benefit – 30 and 60 days</a:t>
            </a:r>
          </a:p>
          <a:p>
            <a:pPr>
              <a:buFont typeface="Wingdings" pitchFamily="2" charset="2"/>
              <a:buChar char="Ø"/>
              <a:defRPr/>
            </a:pPr>
            <a:r>
              <a:rPr lang="en-US" sz="1800" dirty="0">
                <a:latin typeface="+mj-lt"/>
              </a:rPr>
              <a:t>Claim settlement – Cashless &amp; Reimbursement</a:t>
            </a:r>
          </a:p>
          <a:p>
            <a:pPr marL="0" lvl="0" indent="0">
              <a:buClr>
                <a:schemeClr val="tx2"/>
              </a:buClr>
              <a:buNone/>
            </a:pPr>
            <a:endParaRPr lang="en-US" sz="2800" dirty="0">
              <a:solidFill>
                <a:srgbClr val="FF0000"/>
              </a:solidFill>
            </a:endParaRPr>
          </a:p>
          <a:p>
            <a:pPr lvl="0">
              <a:buClr>
                <a:schemeClr val="tx2"/>
              </a:buClr>
              <a:buFont typeface="Wingdings" pitchFamily="2" charset="2"/>
              <a:buChar char="Ø"/>
            </a:pPr>
            <a:endParaRPr lang="en-IN" sz="3200" dirty="0"/>
          </a:p>
          <a:p>
            <a:pPr>
              <a:buClr>
                <a:schemeClr val="tx2"/>
              </a:buClr>
              <a:buFont typeface="Wingdings" pitchFamily="2" charset="2"/>
              <a:buChar char="Ø"/>
            </a:pPr>
            <a:endParaRPr lang="en-US" dirty="0"/>
          </a:p>
          <a:p>
            <a:pPr>
              <a:buClr>
                <a:schemeClr val="tx2"/>
              </a:buClr>
              <a:buFont typeface="Wingdings" pitchFamily="2" charset="2"/>
              <a:buChar char="Ø"/>
            </a:pPr>
            <a:endParaRPr lang="en-US" dirty="0"/>
          </a:p>
          <a:p>
            <a:pPr>
              <a:buClr>
                <a:schemeClr val="tx2"/>
              </a:buClr>
              <a:buFont typeface="Wingdings" pitchFamily="2" charset="2"/>
              <a:buChar char="Ø"/>
            </a:pPr>
            <a:endParaRPr lang="en-US" dirty="0"/>
          </a:p>
        </p:txBody>
      </p:sp>
      <p:sp>
        <p:nvSpPr>
          <p:cNvPr id="4" name="Slide Number Placeholder 3"/>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2</a:t>
            </a:fld>
            <a:endParaRPr lang="en-IN" dirty="0"/>
          </a:p>
        </p:txBody>
      </p:sp>
      <p:pic>
        <p:nvPicPr>
          <p:cNvPr id="5" name="Picture 4">
            <a:extLst>
              <a:ext uri="{FF2B5EF4-FFF2-40B4-BE49-F238E27FC236}">
                <a16:creationId xmlns:a16="http://schemas.microsoft.com/office/drawing/2014/main" id="{9B4B5B3B-DF0E-4565-BCAB-CEDE3AA1020E}"/>
              </a:ext>
            </a:extLst>
          </p:cNvPr>
          <p:cNvPicPr>
            <a:picLocks noChangeAspect="1"/>
          </p:cNvPicPr>
          <p:nvPr/>
        </p:nvPicPr>
        <p:blipFill>
          <a:blip r:embed="rId2"/>
          <a:stretch>
            <a:fillRect/>
          </a:stretch>
        </p:blipFill>
        <p:spPr>
          <a:xfrm>
            <a:off x="629840" y="6216281"/>
            <a:ext cx="1512168" cy="260719"/>
          </a:xfrm>
          <a:prstGeom prst="rect">
            <a:avLst/>
          </a:prstGeom>
        </p:spPr>
      </p:pic>
      <p:pic>
        <p:nvPicPr>
          <p:cNvPr id="6" name="Picture 2" descr="175,823 Health Insurance Stock Photos, Pictures &amp; Royalty-Free Images -  iStock"/>
          <p:cNvPicPr>
            <a:picLocks noChangeAspect="1" noChangeArrowheads="1"/>
          </p:cNvPicPr>
          <p:nvPr/>
        </p:nvPicPr>
        <p:blipFill>
          <a:blip r:embed="rId3"/>
          <a:srcRect/>
          <a:stretch>
            <a:fillRect/>
          </a:stretch>
        </p:blipFill>
        <p:spPr bwMode="auto">
          <a:xfrm>
            <a:off x="8072462" y="239658"/>
            <a:ext cx="902927" cy="745094"/>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16905"/>
            <a:ext cx="8153400" cy="990600"/>
          </a:xfrm>
        </p:spPr>
        <p:txBody>
          <a:bodyPr/>
          <a:lstStyle/>
          <a:p>
            <a:r>
              <a:rPr lang="en-US" sz="3200" b="1" dirty="0"/>
              <a:t>Coverages  - Employee Policy</a:t>
            </a:r>
          </a:p>
        </p:txBody>
      </p:sp>
      <p:sp>
        <p:nvSpPr>
          <p:cNvPr id="3" name="Content Placeholder 2"/>
          <p:cNvSpPr>
            <a:spLocks noGrp="1"/>
          </p:cNvSpPr>
          <p:nvPr>
            <p:ph sz="quarter" idx="1"/>
          </p:nvPr>
        </p:nvSpPr>
        <p:spPr>
          <a:xfrm>
            <a:off x="533400" y="1600199"/>
            <a:ext cx="8232648" cy="5615015"/>
          </a:xfrm>
        </p:spPr>
        <p:txBody>
          <a:bodyPr/>
          <a:lstStyle/>
          <a:p>
            <a:pPr>
              <a:buFont typeface="Wingdings" pitchFamily="2" charset="2"/>
              <a:buChar char="Ø"/>
              <a:defRPr/>
            </a:pPr>
            <a:endParaRPr lang="en-US" sz="1800" dirty="0">
              <a:latin typeface="+mj-lt"/>
            </a:endParaRPr>
          </a:p>
          <a:p>
            <a:pPr>
              <a:buFont typeface="Wingdings" pitchFamily="2" charset="2"/>
              <a:buChar char="Ø"/>
              <a:defRPr/>
            </a:pPr>
            <a:r>
              <a:rPr lang="en-US" sz="1600" dirty="0"/>
              <a:t>Pre existing diseases are covered</a:t>
            </a:r>
          </a:p>
          <a:p>
            <a:pPr>
              <a:buFont typeface="Wingdings" pitchFamily="2" charset="2"/>
              <a:buChar char="Ø"/>
              <a:defRPr/>
            </a:pPr>
            <a:r>
              <a:rPr lang="en-US" sz="1600" dirty="0"/>
              <a:t>First 30 days waiting period is not applicable</a:t>
            </a:r>
          </a:p>
          <a:p>
            <a:pPr>
              <a:buFont typeface="Wingdings" pitchFamily="2" charset="2"/>
              <a:buChar char="Ø"/>
              <a:defRPr/>
            </a:pPr>
            <a:r>
              <a:rPr lang="en-US" sz="1600" dirty="0"/>
              <a:t>First year, second year &amp; fourth year exclusion – not applicable.</a:t>
            </a:r>
          </a:p>
          <a:p>
            <a:pPr>
              <a:buFont typeface="Wingdings" pitchFamily="2" charset="2"/>
              <a:buChar char="Ø"/>
              <a:defRPr/>
            </a:pPr>
            <a:r>
              <a:rPr lang="en-IN" sz="1600" dirty="0"/>
              <a:t>Maternity coverage -</a:t>
            </a:r>
            <a:r>
              <a:rPr lang="en-GB" sz="1600" dirty="0"/>
              <a:t>INR 50,000 for Normal and C-Section without waiting 9 months waiting period, Applicable for only Self &amp; Spouse for </a:t>
            </a:r>
            <a:r>
              <a:rPr lang="en-GB" sz="1600"/>
              <a:t>first </a:t>
            </a:r>
            <a:r>
              <a:rPr lang="en-GB" sz="1600" smtClean="0"/>
              <a:t>two live </a:t>
            </a:r>
            <a:r>
              <a:rPr lang="en-GB" sz="1600" dirty="0"/>
              <a:t>children</a:t>
            </a:r>
          </a:p>
          <a:p>
            <a:pPr>
              <a:buFont typeface="Wingdings" pitchFamily="2" charset="2"/>
              <a:buChar char="Ø"/>
              <a:defRPr/>
            </a:pPr>
            <a:r>
              <a:rPr lang="en-US" sz="1600" dirty="0"/>
              <a:t>Baby charges covered from day one for full Sum Insured.</a:t>
            </a:r>
          </a:p>
          <a:p>
            <a:pPr>
              <a:buFont typeface="Wingdings" pitchFamily="2" charset="2"/>
              <a:buChar char="Ø"/>
              <a:defRPr/>
            </a:pPr>
            <a:r>
              <a:rPr lang="en-US" sz="1600" dirty="0"/>
              <a:t>Congenital internal ailments are payable.  External congenital ailments are payable in case of life threatening situation.</a:t>
            </a:r>
          </a:p>
          <a:p>
            <a:pPr>
              <a:buFont typeface="Wingdings" pitchFamily="2" charset="2"/>
              <a:buChar char="Ø"/>
              <a:defRPr/>
            </a:pPr>
            <a:r>
              <a:rPr lang="en-US" sz="1600" dirty="0"/>
              <a:t> </a:t>
            </a:r>
            <a:r>
              <a:rPr lang="en-GB" sz="1600" dirty="0"/>
              <a:t>Ayurvedic treatment (justified hospitalization) will be covered in a Government Hospital and government approved hospitals only.   Limit for such treatment is </a:t>
            </a:r>
            <a:r>
              <a:rPr lang="en-GB" sz="1600" dirty="0" err="1"/>
              <a:t>upto</a:t>
            </a:r>
            <a:r>
              <a:rPr lang="en-GB" sz="1600" dirty="0"/>
              <a:t>  25% of Sum Insured or maximum of Rs25000/- whichever is less</a:t>
            </a:r>
            <a:endParaRPr lang="en-IN" sz="1600" dirty="0"/>
          </a:p>
          <a:p>
            <a:pPr marL="0" indent="0">
              <a:buNone/>
              <a:defRPr/>
            </a:pPr>
            <a:endParaRPr lang="en-GB" sz="1700" dirty="0"/>
          </a:p>
          <a:p>
            <a:pPr>
              <a:buFont typeface="Wingdings" pitchFamily="2" charset="2"/>
              <a:buChar char="Ø"/>
              <a:defRPr/>
            </a:pPr>
            <a:endParaRPr lang="en-GB" sz="1700" dirty="0"/>
          </a:p>
          <a:p>
            <a:pPr>
              <a:buFont typeface="Wingdings" pitchFamily="2" charset="2"/>
              <a:buChar char="Ø"/>
              <a:defRPr/>
            </a:pPr>
            <a:endParaRPr lang="en-US" sz="1700" dirty="0">
              <a:latin typeface="+mj-lt"/>
            </a:endParaRPr>
          </a:p>
          <a:p>
            <a:pPr eaLnBrk="1" fontAlgn="auto" hangingPunct="1">
              <a:spcAft>
                <a:spcPts val="0"/>
              </a:spcAft>
              <a:buClr>
                <a:schemeClr val="accent3"/>
              </a:buClr>
              <a:buNone/>
              <a:defRPr/>
            </a:pPr>
            <a:endParaRPr lang="en-US" sz="1800" dirty="0">
              <a:latin typeface="+mj-lt"/>
            </a:endParaRPr>
          </a:p>
          <a:p>
            <a:pPr eaLnBrk="1" fontAlgn="auto" hangingPunct="1">
              <a:spcAft>
                <a:spcPts val="0"/>
              </a:spcAft>
              <a:buClr>
                <a:schemeClr val="accent3"/>
              </a:buClr>
              <a:buNone/>
              <a:defRPr/>
            </a:pPr>
            <a:endParaRPr lang="en-US" sz="1800" dirty="0">
              <a:latin typeface="+mj-lt"/>
            </a:endParaRPr>
          </a:p>
          <a:p>
            <a:pPr eaLnBrk="1" fontAlgn="auto" hangingPunct="1">
              <a:spcAft>
                <a:spcPts val="0"/>
              </a:spcAft>
              <a:buClr>
                <a:schemeClr val="accent3"/>
              </a:buClr>
              <a:buNone/>
              <a:defRPr/>
            </a:pPr>
            <a:endParaRPr lang="en-US" sz="1800" dirty="0">
              <a:latin typeface="+mj-lt"/>
            </a:endParaRPr>
          </a:p>
          <a:p>
            <a:pPr>
              <a:buFont typeface="Wingdings" panose="05000000000000000000" pitchFamily="2" charset="2"/>
              <a:buChar char="Ø"/>
              <a:defRPr/>
            </a:pPr>
            <a:endParaRPr lang="en-US" sz="1800" dirty="0">
              <a:latin typeface="Book Antiqua" pitchFamily="18" charset="0"/>
            </a:endParaRPr>
          </a:p>
          <a:p>
            <a:pPr>
              <a:buFont typeface="Wingdings" panose="05000000000000000000" pitchFamily="2" charset="2"/>
              <a:buChar char="Ø"/>
              <a:defRPr/>
            </a:pPr>
            <a:endParaRPr lang="en-US" sz="1800" dirty="0">
              <a:latin typeface="Book Antiqua" pitchFamily="18" charset="0"/>
            </a:endParaRPr>
          </a:p>
          <a:p>
            <a:pPr>
              <a:buFont typeface="Wingdings" panose="05000000000000000000" pitchFamily="2" charset="2"/>
              <a:buChar char="Ø"/>
              <a:defRPr/>
            </a:pPr>
            <a:endParaRPr lang="en-US" sz="1800" dirty="0">
              <a:latin typeface="Book Antiqua" pitchFamily="18" charset="0"/>
            </a:endParaRPr>
          </a:p>
          <a:p>
            <a:pPr>
              <a:buFont typeface="Wingdings" panose="05000000000000000000" pitchFamily="2" charset="2"/>
              <a:buChar char="Ø"/>
              <a:defRPr/>
            </a:pPr>
            <a:endParaRPr lang="en-US" sz="1800" dirty="0">
              <a:latin typeface="Book Antiqua" pitchFamily="18" charset="0"/>
            </a:endParaRPr>
          </a:p>
          <a:p>
            <a:pPr>
              <a:buFont typeface="Wingdings" panose="05000000000000000000" pitchFamily="2" charset="2"/>
              <a:buChar char="Ø"/>
              <a:defRPr/>
            </a:pPr>
            <a:endParaRPr lang="en-US" sz="1800" dirty="0">
              <a:latin typeface="Book Antiqua" pitchFamily="18" charset="0"/>
            </a:endParaRPr>
          </a:p>
          <a:p>
            <a:pPr>
              <a:buFont typeface="Wingdings" panose="05000000000000000000" pitchFamily="2" charset="2"/>
              <a:buChar char="Ø"/>
              <a:defRPr/>
            </a:pPr>
            <a:endParaRPr lang="en-US" sz="1800" dirty="0">
              <a:latin typeface="Book Antiqua" pitchFamily="18" charset="0"/>
            </a:endParaRPr>
          </a:p>
          <a:p>
            <a:pPr>
              <a:buClr>
                <a:schemeClr val="tx2"/>
              </a:buClr>
              <a:buFont typeface="Wingdings" panose="05000000000000000000" pitchFamily="2" charset="2"/>
              <a:buChar char="Ø"/>
            </a:pPr>
            <a:endParaRPr lang="en-US" sz="1600" dirty="0"/>
          </a:p>
          <a:p>
            <a:pPr marL="0" indent="0">
              <a:buNone/>
            </a:pPr>
            <a:endParaRPr lang="en-US" dirty="0"/>
          </a:p>
          <a:p>
            <a:pPr>
              <a:buFont typeface="Wingdings" pitchFamily="2" charset="2"/>
              <a:buChar char="Ø"/>
            </a:pPr>
            <a:endParaRPr lang="en-US" dirty="0"/>
          </a:p>
        </p:txBody>
      </p:sp>
      <p:sp>
        <p:nvSpPr>
          <p:cNvPr id="4" name="Slide Number Placeholder 3"/>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3</a:t>
            </a:fld>
            <a:endParaRPr lang="en-IN" dirty="0"/>
          </a:p>
        </p:txBody>
      </p:sp>
      <p:pic>
        <p:nvPicPr>
          <p:cNvPr id="5" name="Picture 4">
            <a:extLst>
              <a:ext uri="{FF2B5EF4-FFF2-40B4-BE49-F238E27FC236}">
                <a16:creationId xmlns:a16="http://schemas.microsoft.com/office/drawing/2014/main" id="{89FBB4DA-43D5-4ADB-B3BC-3FDB207C3552}"/>
              </a:ext>
            </a:extLst>
          </p:cNvPr>
          <p:cNvPicPr>
            <a:picLocks noChangeAspect="1"/>
          </p:cNvPicPr>
          <p:nvPr/>
        </p:nvPicPr>
        <p:blipFill>
          <a:blip r:embed="rId2"/>
          <a:stretch>
            <a:fillRect/>
          </a:stretch>
        </p:blipFill>
        <p:spPr>
          <a:xfrm>
            <a:off x="612648" y="6143644"/>
            <a:ext cx="2071699" cy="357190"/>
          </a:xfrm>
          <a:prstGeom prst="rect">
            <a:avLst/>
          </a:prstGeom>
        </p:spPr>
      </p:pic>
      <p:pic>
        <p:nvPicPr>
          <p:cNvPr id="6" name="Picture 2" descr="175,823 Health Insurance Stock Photos, Pictures &amp; Royalty-Free Images -  iStock"/>
          <p:cNvPicPr>
            <a:picLocks noChangeAspect="1" noChangeArrowheads="1"/>
          </p:cNvPicPr>
          <p:nvPr/>
        </p:nvPicPr>
        <p:blipFill>
          <a:blip r:embed="rId3"/>
          <a:srcRect/>
          <a:stretch>
            <a:fillRect/>
          </a:stretch>
        </p:blipFill>
        <p:spPr bwMode="auto">
          <a:xfrm>
            <a:off x="8072462" y="239658"/>
            <a:ext cx="902927" cy="745094"/>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AD777-2761-4893-9001-493EAD966B30}"/>
              </a:ext>
            </a:extLst>
          </p:cNvPr>
          <p:cNvSpPr>
            <a:spLocks noGrp="1"/>
          </p:cNvSpPr>
          <p:nvPr>
            <p:ph type="title"/>
          </p:nvPr>
        </p:nvSpPr>
        <p:spPr/>
        <p:txBody>
          <a:bodyPr/>
          <a:lstStyle/>
          <a:p>
            <a:r>
              <a:rPr lang="en-US" sz="3200" b="1" dirty="0"/>
              <a:t>Coverages  - Employee Policy</a:t>
            </a:r>
            <a:endParaRPr lang="en-IN" sz="3200" b="1" dirty="0"/>
          </a:p>
        </p:txBody>
      </p:sp>
      <p:sp>
        <p:nvSpPr>
          <p:cNvPr id="3" name="Content Placeholder 2">
            <a:extLst>
              <a:ext uri="{FF2B5EF4-FFF2-40B4-BE49-F238E27FC236}">
                <a16:creationId xmlns:a16="http://schemas.microsoft.com/office/drawing/2014/main" id="{A46A47E1-7D7F-4FAF-AB2D-66A7DCCF40C9}"/>
              </a:ext>
            </a:extLst>
          </p:cNvPr>
          <p:cNvSpPr>
            <a:spLocks noGrp="1"/>
          </p:cNvSpPr>
          <p:nvPr>
            <p:ph sz="quarter" idx="1"/>
          </p:nvPr>
        </p:nvSpPr>
        <p:spPr/>
        <p:txBody>
          <a:bodyPr/>
          <a:lstStyle/>
          <a:p>
            <a:pPr>
              <a:buFont typeface="Wingdings" pitchFamily="2" charset="2"/>
              <a:buChar char="Ø"/>
              <a:defRPr/>
            </a:pPr>
            <a:endParaRPr lang="en-US" sz="1700" dirty="0"/>
          </a:p>
          <a:p>
            <a:pPr>
              <a:buFont typeface="Wingdings" pitchFamily="2" charset="2"/>
              <a:buChar char="Ø"/>
              <a:defRPr/>
            </a:pPr>
            <a:r>
              <a:rPr lang="en-GB" sz="1600" dirty="0"/>
              <a:t>Ambulance charges- emergency ambulance charges Rs 1500 per incident</a:t>
            </a:r>
          </a:p>
          <a:p>
            <a:pPr>
              <a:buFont typeface="Wingdings" pitchFamily="2" charset="2"/>
              <a:buChar char="Ø"/>
              <a:defRPr/>
            </a:pPr>
            <a:r>
              <a:rPr lang="en-GB" sz="1600" dirty="0"/>
              <a:t>Co</a:t>
            </a:r>
            <a:r>
              <a:rPr lang="en-IN" sz="1600" dirty="0"/>
              <a:t>-pay- Not applicable .</a:t>
            </a:r>
          </a:p>
          <a:p>
            <a:pPr>
              <a:buFont typeface="Wingdings" pitchFamily="2" charset="2"/>
              <a:buChar char="Ø"/>
            </a:pPr>
            <a:r>
              <a:rPr lang="en-GB" sz="1600" dirty="0"/>
              <a:t>Cataract – Rs24000/- per eye</a:t>
            </a:r>
          </a:p>
          <a:p>
            <a:pPr>
              <a:buFont typeface="Wingdings" pitchFamily="2" charset="2"/>
              <a:buChar char="Ø"/>
            </a:pPr>
            <a:r>
              <a:rPr lang="en-GB" sz="1600" dirty="0"/>
              <a:t>Dental cover – Not applicable other than treatment due to accident</a:t>
            </a:r>
          </a:p>
          <a:p>
            <a:pPr>
              <a:buFont typeface="Wingdings" pitchFamily="2" charset="2"/>
              <a:buChar char="Ø"/>
            </a:pPr>
            <a:r>
              <a:rPr lang="en-IN" sz="1600" dirty="0"/>
              <a:t>Additions and deletions of employee/member will be done on pro rata basis from day 1 subject to sufficient CD balance being maintained. Data for such additions and deletions has to be shared not later than 30 days from the date of joining of the employee. In case of deletion of employee, pro-rata refund for entire family to be done subject to nil claims.</a:t>
            </a:r>
          </a:p>
          <a:p>
            <a:pPr>
              <a:buFont typeface="Wingdings" pitchFamily="2" charset="2"/>
              <a:buChar char="Ø"/>
            </a:pPr>
            <a:endParaRPr lang="en-GB" sz="1600" dirty="0"/>
          </a:p>
          <a:p>
            <a:pPr>
              <a:buFont typeface="Wingdings" pitchFamily="2" charset="2"/>
              <a:buChar char="Ø"/>
              <a:defRPr/>
            </a:pPr>
            <a:endParaRPr lang="en-IN" sz="1700" dirty="0"/>
          </a:p>
        </p:txBody>
      </p:sp>
      <p:sp>
        <p:nvSpPr>
          <p:cNvPr id="4" name="Slide Number Placeholder 3">
            <a:extLst>
              <a:ext uri="{FF2B5EF4-FFF2-40B4-BE49-F238E27FC236}">
                <a16:creationId xmlns:a16="http://schemas.microsoft.com/office/drawing/2014/main" id="{D25135F8-F70F-4830-903C-7D9FE13D5941}"/>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4</a:t>
            </a:fld>
            <a:endParaRPr lang="en-IN" dirty="0"/>
          </a:p>
        </p:txBody>
      </p:sp>
      <p:pic>
        <p:nvPicPr>
          <p:cNvPr id="5" name="Picture 4">
            <a:extLst>
              <a:ext uri="{FF2B5EF4-FFF2-40B4-BE49-F238E27FC236}">
                <a16:creationId xmlns:a16="http://schemas.microsoft.com/office/drawing/2014/main" id="{EF78D492-A234-4E04-9710-7A59D0C325A9}"/>
              </a:ext>
            </a:extLst>
          </p:cNvPr>
          <p:cNvPicPr>
            <a:picLocks noChangeAspect="1"/>
          </p:cNvPicPr>
          <p:nvPr/>
        </p:nvPicPr>
        <p:blipFill>
          <a:blip r:embed="rId2"/>
          <a:stretch>
            <a:fillRect/>
          </a:stretch>
        </p:blipFill>
        <p:spPr>
          <a:xfrm>
            <a:off x="612648" y="6143644"/>
            <a:ext cx="2071699" cy="357190"/>
          </a:xfrm>
          <a:prstGeom prst="rect">
            <a:avLst/>
          </a:prstGeom>
        </p:spPr>
      </p:pic>
    </p:spTree>
    <p:extLst>
      <p:ext uri="{BB962C8B-B14F-4D97-AF65-F5344CB8AC3E}">
        <p14:creationId xmlns:p14="http://schemas.microsoft.com/office/powerpoint/2010/main" val="3066256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What is not covered – Major exclusions</a:t>
            </a:r>
          </a:p>
        </p:txBody>
      </p:sp>
      <p:sp>
        <p:nvSpPr>
          <p:cNvPr id="3" name="Content Placeholder 2"/>
          <p:cNvSpPr>
            <a:spLocks noGrp="1"/>
          </p:cNvSpPr>
          <p:nvPr>
            <p:ph sz="quarter" idx="1"/>
          </p:nvPr>
        </p:nvSpPr>
        <p:spPr/>
        <p:txBody>
          <a:bodyPr/>
          <a:lstStyle/>
          <a:p>
            <a:pPr marL="457200" indent="-457200">
              <a:buFont typeface="Wingdings" pitchFamily="2" charset="2"/>
              <a:buChar char="Ø"/>
              <a:defRPr/>
            </a:pPr>
            <a:r>
              <a:rPr lang="en-US" sz="1600" dirty="0">
                <a:latin typeface="+mj-lt"/>
              </a:rPr>
              <a:t>Infertility treatments, sterility, sexually transmitted diseases, AIDS, genetic disorders, congenital external ailments.</a:t>
            </a:r>
          </a:p>
          <a:p>
            <a:pPr marL="457200" indent="-457200">
              <a:buFont typeface="Wingdings" pitchFamily="2" charset="2"/>
              <a:buChar char="Ø"/>
              <a:defRPr/>
            </a:pPr>
            <a:r>
              <a:rPr lang="en-US" sz="1600" dirty="0" err="1">
                <a:latin typeface="+mj-lt"/>
              </a:rPr>
              <a:t>Sukha</a:t>
            </a:r>
            <a:r>
              <a:rPr lang="en-US" sz="1600" dirty="0">
                <a:latin typeface="+mj-lt"/>
              </a:rPr>
              <a:t> </a:t>
            </a:r>
            <a:r>
              <a:rPr lang="en-US" sz="1600" dirty="0" err="1">
                <a:latin typeface="+mj-lt"/>
              </a:rPr>
              <a:t>chikiltsa</a:t>
            </a:r>
            <a:r>
              <a:rPr lang="en-US" sz="1600" dirty="0">
                <a:latin typeface="+mj-lt"/>
              </a:rPr>
              <a:t> in </a:t>
            </a:r>
            <a:r>
              <a:rPr lang="en-US" sz="1600" dirty="0" err="1">
                <a:latin typeface="+mj-lt"/>
              </a:rPr>
              <a:t>ayurveda</a:t>
            </a:r>
            <a:r>
              <a:rPr lang="en-US" sz="1600" dirty="0">
                <a:latin typeface="+mj-lt"/>
              </a:rPr>
              <a:t> treatments</a:t>
            </a:r>
          </a:p>
          <a:p>
            <a:pPr marL="457200" indent="-457200">
              <a:buFont typeface="Wingdings" pitchFamily="2" charset="2"/>
              <a:buChar char="Ø"/>
              <a:defRPr/>
            </a:pPr>
            <a:r>
              <a:rPr lang="en-US" sz="1600" dirty="0">
                <a:latin typeface="+mj-lt"/>
              </a:rPr>
              <a:t>Surgery and treatment for correction of eye sight, cost of spectacles, contact lenses, hearing aids </a:t>
            </a:r>
            <a:r>
              <a:rPr lang="en-US" sz="1600" dirty="0" err="1">
                <a:latin typeface="+mj-lt"/>
              </a:rPr>
              <a:t>etc</a:t>
            </a:r>
            <a:r>
              <a:rPr lang="en-US" sz="1600" dirty="0">
                <a:latin typeface="+mj-lt"/>
              </a:rPr>
              <a:t>  not payable, but refractive error correction is covered if the correction index is +/  - 7.5 diopters.</a:t>
            </a:r>
          </a:p>
          <a:p>
            <a:pPr marL="457200" indent="-457200">
              <a:buFont typeface="Wingdings" pitchFamily="2" charset="2"/>
              <a:buChar char="Ø"/>
              <a:defRPr/>
            </a:pPr>
            <a:r>
              <a:rPr lang="en-US" sz="1600" dirty="0">
                <a:latin typeface="+mj-lt"/>
              </a:rPr>
              <a:t>Circumcision unless necessary for treatment</a:t>
            </a:r>
          </a:p>
          <a:p>
            <a:pPr marL="457200" indent="-457200">
              <a:buFont typeface="Wingdings" pitchFamily="2" charset="2"/>
              <a:buChar char="Ø"/>
              <a:defRPr/>
            </a:pPr>
            <a:r>
              <a:rPr lang="en-US" sz="1600" dirty="0">
                <a:latin typeface="+mj-lt"/>
              </a:rPr>
              <a:t>Dental treatment for any kind, unless arising from injury which requires hospitalization</a:t>
            </a:r>
          </a:p>
          <a:p>
            <a:pPr marL="457200" indent="-457200">
              <a:buFont typeface="Wingdings" pitchFamily="2" charset="2"/>
              <a:buChar char="Ø"/>
              <a:defRPr/>
            </a:pPr>
            <a:r>
              <a:rPr lang="en-US" sz="1600" dirty="0">
                <a:latin typeface="+mj-lt"/>
              </a:rPr>
              <a:t>Hospitalization for convalescence, general debility, intentional self injury, use of intoxicating drugs, alcohol</a:t>
            </a:r>
          </a:p>
          <a:p>
            <a:pPr marL="457200" indent="-457200">
              <a:buFont typeface="Wingdings" pitchFamily="2" charset="2"/>
              <a:buChar char="Ø"/>
              <a:defRPr/>
            </a:pPr>
            <a:r>
              <a:rPr lang="en-US" sz="1600" dirty="0">
                <a:latin typeface="+mj-lt"/>
                <a:cs typeface="Times New Roman" pitchFamily="18" charset="0"/>
              </a:rPr>
              <a:t>Injury /disease directly or indirectly caused due to war, attack, injury from nuclear weapon.</a:t>
            </a:r>
          </a:p>
          <a:p>
            <a:pPr>
              <a:buFont typeface="Wingdings" pitchFamily="2" charset="2"/>
              <a:buChar char="Ø"/>
              <a:defRPr/>
            </a:pPr>
            <a:r>
              <a:rPr lang="en-US" sz="1600" dirty="0">
                <a:latin typeface="+mj-lt"/>
              </a:rPr>
              <a:t>Outpatient treatment, sex change treatments, cosmetic treatments.</a:t>
            </a:r>
          </a:p>
          <a:p>
            <a:pPr>
              <a:buFont typeface="Wingdings" pitchFamily="2" charset="2"/>
              <a:buChar char="Ø"/>
              <a:defRPr/>
            </a:pPr>
            <a:r>
              <a:rPr lang="en-US" sz="1600" dirty="0">
                <a:latin typeface="+mj-lt"/>
              </a:rPr>
              <a:t>Claims arising out of hazardous activity like rock climbing, Scuba diving, parachuting </a:t>
            </a:r>
            <a:r>
              <a:rPr lang="en-US" sz="1600" dirty="0" err="1">
                <a:latin typeface="+mj-lt"/>
              </a:rPr>
              <a:t>etc</a:t>
            </a:r>
            <a:endParaRPr lang="en-US" sz="1600" dirty="0">
              <a:latin typeface="+mj-lt"/>
            </a:endParaRPr>
          </a:p>
          <a:p>
            <a:pPr marL="457200" indent="-457200">
              <a:buFont typeface="Wingdings" pitchFamily="2" charset="2"/>
              <a:buChar char="Ø"/>
              <a:defRPr/>
            </a:pPr>
            <a:endParaRPr lang="en-US" sz="1800" dirty="0">
              <a:latin typeface="+mj-lt"/>
            </a:endParaRPr>
          </a:p>
          <a:p>
            <a:pPr>
              <a:buNone/>
            </a:pPr>
            <a:endParaRPr lang="en-US" dirty="0"/>
          </a:p>
          <a:p>
            <a:pPr>
              <a:buNone/>
            </a:pPr>
            <a:r>
              <a:rPr lang="en-US" dirty="0"/>
              <a:t>   </a:t>
            </a:r>
          </a:p>
          <a:p>
            <a:pPr>
              <a:buNone/>
            </a:pPr>
            <a:r>
              <a:rPr lang="en-US" dirty="0"/>
              <a:t> </a:t>
            </a:r>
          </a:p>
          <a:p>
            <a:pPr>
              <a:buFont typeface="Wingdings" pitchFamily="2" charset="2"/>
              <a:buChar char="Ø"/>
            </a:pPr>
            <a:endParaRPr lang="en-US" dirty="0"/>
          </a:p>
          <a:p>
            <a:pPr>
              <a:buFont typeface="Wingdings" pitchFamily="2" charset="2"/>
              <a:buChar char="Ø"/>
            </a:pPr>
            <a:endParaRPr lang="en-US" dirty="0"/>
          </a:p>
        </p:txBody>
      </p:sp>
      <p:sp>
        <p:nvSpPr>
          <p:cNvPr id="4" name="Slide Number Placeholder 3"/>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5</a:t>
            </a:fld>
            <a:endParaRPr lang="en-IN" dirty="0"/>
          </a:p>
        </p:txBody>
      </p:sp>
      <p:pic>
        <p:nvPicPr>
          <p:cNvPr id="5" name="Picture 4">
            <a:extLst>
              <a:ext uri="{FF2B5EF4-FFF2-40B4-BE49-F238E27FC236}">
                <a16:creationId xmlns:a16="http://schemas.microsoft.com/office/drawing/2014/main" id="{1F78190B-A6BF-4CF9-B08A-94185B1B91B2}"/>
              </a:ext>
            </a:extLst>
          </p:cNvPr>
          <p:cNvPicPr>
            <a:picLocks noChangeAspect="1"/>
          </p:cNvPicPr>
          <p:nvPr/>
        </p:nvPicPr>
        <p:blipFill>
          <a:blip r:embed="rId2"/>
          <a:stretch>
            <a:fillRect/>
          </a:stretch>
        </p:blipFill>
        <p:spPr>
          <a:xfrm>
            <a:off x="643176" y="6216281"/>
            <a:ext cx="1512168" cy="260719"/>
          </a:xfrm>
          <a:prstGeom prst="rect">
            <a:avLst/>
          </a:prstGeom>
        </p:spPr>
      </p:pic>
      <p:pic>
        <p:nvPicPr>
          <p:cNvPr id="6" name="Picture 2" descr="175,823 Health Insurance Stock Photos, Pictures &amp; Royalty-Free Images -  iStock"/>
          <p:cNvPicPr>
            <a:picLocks noChangeAspect="1" noChangeArrowheads="1"/>
          </p:cNvPicPr>
          <p:nvPr/>
        </p:nvPicPr>
        <p:blipFill>
          <a:blip r:embed="rId3"/>
          <a:srcRect/>
          <a:stretch>
            <a:fillRect/>
          </a:stretch>
        </p:blipFill>
        <p:spPr bwMode="auto">
          <a:xfrm>
            <a:off x="8194510" y="239658"/>
            <a:ext cx="902927" cy="745094"/>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1903-C2C8-4ADA-830B-F435D60008B2}"/>
              </a:ext>
            </a:extLst>
          </p:cNvPr>
          <p:cNvSpPr>
            <a:spLocks noGrp="1"/>
          </p:cNvSpPr>
          <p:nvPr>
            <p:ph type="title"/>
          </p:nvPr>
        </p:nvSpPr>
        <p:spPr/>
        <p:txBody>
          <a:bodyPr/>
          <a:lstStyle/>
          <a:p>
            <a:r>
              <a:rPr lang="en-GB" sz="3200" b="1" dirty="0"/>
              <a:t>What is not covered – Major exclusions</a:t>
            </a:r>
            <a:endParaRPr lang="en-IN" sz="3200" b="1" dirty="0"/>
          </a:p>
        </p:txBody>
      </p:sp>
      <p:sp>
        <p:nvSpPr>
          <p:cNvPr id="3" name="Content Placeholder 2">
            <a:extLst>
              <a:ext uri="{FF2B5EF4-FFF2-40B4-BE49-F238E27FC236}">
                <a16:creationId xmlns:a16="http://schemas.microsoft.com/office/drawing/2014/main" id="{603D45F2-262A-4D1A-9763-28C704E67A01}"/>
              </a:ext>
            </a:extLst>
          </p:cNvPr>
          <p:cNvSpPr>
            <a:spLocks noGrp="1"/>
          </p:cNvSpPr>
          <p:nvPr>
            <p:ph sz="quarter" idx="1"/>
          </p:nvPr>
        </p:nvSpPr>
        <p:spPr/>
        <p:txBody>
          <a:bodyPr/>
          <a:lstStyle/>
          <a:p>
            <a:pPr>
              <a:buFont typeface="Wingdings" pitchFamily="2" charset="2"/>
              <a:buChar char="Ø"/>
              <a:defRPr/>
            </a:pPr>
            <a:r>
              <a:rPr lang="en-US" sz="1600" dirty="0">
                <a:latin typeface="+mj-lt"/>
              </a:rPr>
              <a:t>Hospitalization for investigation purpose is not payable, unproven treatments are not payable.  Cosmetic or plastic surgery or any treatment to change appearance unless for reconstruction following an accident, burns or cancer or as part of medically necessary treatment.</a:t>
            </a:r>
          </a:p>
          <a:p>
            <a:pPr>
              <a:buFont typeface="Wingdings" pitchFamily="2" charset="2"/>
              <a:buChar char="Ø"/>
              <a:defRPr/>
            </a:pPr>
            <a:r>
              <a:rPr lang="en-US" sz="1600" dirty="0">
                <a:latin typeface="+mj-lt"/>
              </a:rPr>
              <a:t>Treatment for alcoholism or drugs not payable </a:t>
            </a:r>
          </a:p>
          <a:p>
            <a:pPr>
              <a:buFont typeface="Wingdings" pitchFamily="2" charset="2"/>
              <a:buChar char="Ø"/>
              <a:defRPr/>
            </a:pPr>
            <a:r>
              <a:rPr lang="en-US" sz="1600" dirty="0">
                <a:latin typeface="+mj-lt"/>
              </a:rPr>
              <a:t>Obesity treatment, health check ups, naturopathy, acupuncture, acupressure, magnetic therapies. </a:t>
            </a:r>
          </a:p>
          <a:p>
            <a:pPr>
              <a:buFont typeface="Wingdings" pitchFamily="2" charset="2"/>
              <a:buChar char="Ø"/>
              <a:defRPr/>
            </a:pPr>
            <a:r>
              <a:rPr lang="en-US" sz="1600" dirty="0">
                <a:latin typeface="+mj-lt"/>
              </a:rPr>
              <a:t>Treatment taken outside India.</a:t>
            </a:r>
          </a:p>
          <a:p>
            <a:pPr marL="274320" indent="-274320" eaLnBrk="1" fontAlgn="auto" hangingPunct="1">
              <a:spcAft>
                <a:spcPts val="0"/>
              </a:spcAft>
              <a:buClr>
                <a:schemeClr val="accent3"/>
              </a:buClr>
              <a:buFont typeface="Wingdings 2"/>
              <a:buChar char=""/>
              <a:defRPr/>
            </a:pPr>
            <a:r>
              <a:rPr lang="en-US" sz="1400" dirty="0">
                <a:latin typeface="+mj-lt"/>
              </a:rPr>
              <a:t>Major non payable items :- Registration/ Admission charges, luxury tax, service charges, Attendant pass, water bed, insulin pump, injection charges, Extra bed for attendant, sling, crutches, wheel chair, bandage, Bed retaining charges, Expenses on luxury items such as TV/AC, Laundry and telephone, Vitamins, Tonics and sanitary items, toiletry, Special duty nursing fee, Food &amp; Beverages, Xerox/ certifying charges, MLC charges, mortuary charges, Vaccination, Nutrition &amp; dietetics, well baby charges, Expenses on spectacles, hearing aids, external equipment etc.</a:t>
            </a:r>
          </a:p>
          <a:p>
            <a:pPr marL="0" indent="0">
              <a:buNone/>
            </a:pPr>
            <a:r>
              <a:rPr lang="en-IN" sz="1800" b="1" dirty="0">
                <a:latin typeface="+mj-lt"/>
              </a:rPr>
              <a:t>Detailed list of non payable &amp; disposable as per IRDA list will be shared to HR.</a:t>
            </a:r>
          </a:p>
        </p:txBody>
      </p:sp>
      <p:sp>
        <p:nvSpPr>
          <p:cNvPr id="4" name="Slide Number Placeholder 3">
            <a:extLst>
              <a:ext uri="{FF2B5EF4-FFF2-40B4-BE49-F238E27FC236}">
                <a16:creationId xmlns:a16="http://schemas.microsoft.com/office/drawing/2014/main" id="{852F873A-1DCF-43DD-975A-FB719E27C1C9}"/>
              </a:ext>
            </a:extLst>
          </p:cNvPr>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6</a:t>
            </a:fld>
            <a:endParaRPr lang="en-IN" dirty="0"/>
          </a:p>
        </p:txBody>
      </p:sp>
      <p:pic>
        <p:nvPicPr>
          <p:cNvPr id="5" name="Picture 4">
            <a:extLst>
              <a:ext uri="{FF2B5EF4-FFF2-40B4-BE49-F238E27FC236}">
                <a16:creationId xmlns:a16="http://schemas.microsoft.com/office/drawing/2014/main" id="{1F78190B-A6BF-4CF9-B08A-94185B1B91B2}"/>
              </a:ext>
            </a:extLst>
          </p:cNvPr>
          <p:cNvPicPr>
            <a:picLocks noChangeAspect="1"/>
          </p:cNvPicPr>
          <p:nvPr/>
        </p:nvPicPr>
        <p:blipFill>
          <a:blip r:embed="rId2"/>
          <a:stretch>
            <a:fillRect/>
          </a:stretch>
        </p:blipFill>
        <p:spPr>
          <a:xfrm>
            <a:off x="643176" y="6216281"/>
            <a:ext cx="1512168" cy="260719"/>
          </a:xfrm>
          <a:prstGeom prst="rect">
            <a:avLst/>
          </a:prstGeom>
        </p:spPr>
      </p:pic>
      <p:pic>
        <p:nvPicPr>
          <p:cNvPr id="7" name="Picture 2" descr="175,823 Health Insurance Stock Photos, Pictures &amp; Royalty-Free Images -  iStock"/>
          <p:cNvPicPr>
            <a:picLocks noChangeAspect="1" noChangeArrowheads="1"/>
          </p:cNvPicPr>
          <p:nvPr/>
        </p:nvPicPr>
        <p:blipFill>
          <a:blip r:embed="rId3"/>
          <a:srcRect/>
          <a:stretch>
            <a:fillRect/>
          </a:stretch>
        </p:blipFill>
        <p:spPr bwMode="auto">
          <a:xfrm>
            <a:off x="8194510" y="239658"/>
            <a:ext cx="902927" cy="745094"/>
          </a:xfrm>
          <a:prstGeom prst="rect">
            <a:avLst/>
          </a:prstGeom>
          <a:noFill/>
        </p:spPr>
      </p:pic>
    </p:spTree>
    <p:extLst>
      <p:ext uri="{BB962C8B-B14F-4D97-AF65-F5344CB8AC3E}">
        <p14:creationId xmlns:p14="http://schemas.microsoft.com/office/powerpoint/2010/main" val="20787417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0F8F0-73C5-4D70-AFE9-42FB4C0CCB6A}"/>
              </a:ext>
            </a:extLst>
          </p:cNvPr>
          <p:cNvSpPr>
            <a:spLocks noGrp="1"/>
          </p:cNvSpPr>
          <p:nvPr>
            <p:ph type="title"/>
          </p:nvPr>
        </p:nvSpPr>
        <p:spPr/>
        <p:txBody>
          <a:bodyPr/>
          <a:lstStyle/>
          <a:p>
            <a:r>
              <a:rPr lang="en-US" sz="3200" b="1" u="sng" dirty="0"/>
              <a:t/>
            </a:r>
            <a:br>
              <a:rPr lang="en-US" sz="3200" b="1" u="sng" dirty="0"/>
            </a:br>
            <a:r>
              <a:rPr lang="en-US" sz="3200" b="1" dirty="0"/>
              <a:t>Cashless: Easy Steps to do for Faster approval</a:t>
            </a:r>
            <a:r>
              <a:rPr lang="en-US" sz="3600" kern="0" dirty="0">
                <a:latin typeface="Bookman Old Style" pitchFamily="18" charset="0"/>
                <a:ea typeface="+mj-ea"/>
                <a:cs typeface="+mj-cs"/>
              </a:rPr>
              <a:t/>
            </a:r>
            <a:br>
              <a:rPr lang="en-US" sz="3600" kern="0" dirty="0">
                <a:latin typeface="Bookman Old Style" pitchFamily="18" charset="0"/>
                <a:ea typeface="+mj-ea"/>
                <a:cs typeface="+mj-cs"/>
              </a:rPr>
            </a:br>
            <a:endParaRPr lang="en-IN" sz="3600" dirty="0"/>
          </a:p>
        </p:txBody>
      </p:sp>
      <p:sp>
        <p:nvSpPr>
          <p:cNvPr id="3" name="Content Placeholder 2">
            <a:extLst>
              <a:ext uri="{FF2B5EF4-FFF2-40B4-BE49-F238E27FC236}">
                <a16:creationId xmlns:a16="http://schemas.microsoft.com/office/drawing/2014/main" id="{2BD9DDB0-8859-4BAB-B747-22F831692839}"/>
              </a:ext>
            </a:extLst>
          </p:cNvPr>
          <p:cNvSpPr>
            <a:spLocks noGrp="1"/>
          </p:cNvSpPr>
          <p:nvPr>
            <p:ph sz="quarter" idx="1"/>
          </p:nvPr>
        </p:nvSpPr>
        <p:spPr/>
        <p:txBody>
          <a:bodyPr/>
          <a:lstStyle/>
          <a:p>
            <a:pPr>
              <a:buFont typeface="Wingdings" panose="05000000000000000000" pitchFamily="2" charset="2"/>
              <a:buChar char="Ø"/>
            </a:pPr>
            <a:r>
              <a:rPr lang="en-GB" sz="1800" dirty="0">
                <a:latin typeface="+mj-lt"/>
              </a:rPr>
              <a:t>Share Insurer ID card along with a photo ID proof at the insurance desk of the hospital., if the Dr advise for an admission.  Pre approval form of the TPA will be shared to you, provide the same filled to the insurance desk.</a:t>
            </a:r>
          </a:p>
          <a:p>
            <a:pPr>
              <a:buFont typeface="Wingdings" panose="05000000000000000000" pitchFamily="2" charset="2"/>
              <a:buChar char="Ø"/>
            </a:pPr>
            <a:r>
              <a:rPr lang="en-GB" sz="1800" dirty="0">
                <a:latin typeface="+mj-lt"/>
              </a:rPr>
              <a:t>If there is any missing information or additional information required, TPA will raise a query to the hospital.  </a:t>
            </a:r>
          </a:p>
          <a:p>
            <a:pPr>
              <a:buFont typeface="Wingdings" panose="05000000000000000000" pitchFamily="2" charset="2"/>
              <a:buChar char="Ø"/>
            </a:pPr>
            <a:r>
              <a:rPr lang="en-GB" sz="1800" dirty="0">
                <a:latin typeface="+mj-lt"/>
              </a:rPr>
              <a:t>Once the TPA is receive adequate information request will be processed within 2 – 3 hours.   </a:t>
            </a:r>
          </a:p>
          <a:p>
            <a:pPr>
              <a:buFont typeface="Wingdings" panose="05000000000000000000" pitchFamily="2" charset="2"/>
              <a:buChar char="Ø"/>
            </a:pPr>
            <a:r>
              <a:rPr lang="en-GB" sz="1800" dirty="0">
                <a:latin typeface="+mj-lt"/>
              </a:rPr>
              <a:t>In between this process if any support is required, you may get the support from the concerned officer of Am-ex assigned to you. </a:t>
            </a:r>
          </a:p>
          <a:p>
            <a:pPr>
              <a:buFont typeface="Wingdings" panose="05000000000000000000" pitchFamily="2" charset="2"/>
              <a:buChar char="Ø"/>
            </a:pPr>
            <a:r>
              <a:rPr lang="en-GB" sz="1800" dirty="0">
                <a:latin typeface="+mj-lt"/>
              </a:rPr>
              <a:t>At the day of discharge you may inform Am-ex official for  a hazzle free release from the hospital.</a:t>
            </a:r>
          </a:p>
          <a:p>
            <a:pPr>
              <a:buFont typeface="Wingdings" panose="05000000000000000000" pitchFamily="2" charset="2"/>
              <a:buChar char="Ø"/>
            </a:pPr>
            <a:r>
              <a:rPr lang="en-GB" sz="1800" dirty="0">
                <a:latin typeface="+mj-lt"/>
              </a:rPr>
              <a:t>TPA would be able to process for the final approval only upon the receipt of final bill and discharge summary.   This would also take maximum 2 – 3 hours.</a:t>
            </a:r>
          </a:p>
          <a:p>
            <a:pPr>
              <a:buFont typeface="Wingdings" panose="05000000000000000000" pitchFamily="2" charset="2"/>
              <a:buChar char="Ø"/>
            </a:pPr>
            <a:endParaRPr lang="en-GB" sz="1800" dirty="0">
              <a:latin typeface="+mj-lt"/>
            </a:endParaRPr>
          </a:p>
          <a:p>
            <a:pPr>
              <a:buFont typeface="Wingdings" panose="05000000000000000000" pitchFamily="2" charset="2"/>
              <a:buChar char="Ø"/>
            </a:pPr>
            <a:endParaRPr lang="en-GB" sz="1800" dirty="0">
              <a:latin typeface="+mj-lt"/>
            </a:endParaRPr>
          </a:p>
          <a:p>
            <a:pPr>
              <a:buFont typeface="Wingdings" panose="05000000000000000000" pitchFamily="2" charset="2"/>
              <a:buChar char="Ø"/>
            </a:pPr>
            <a:endParaRPr lang="en-IN" sz="1800" dirty="0">
              <a:latin typeface="+mj-lt"/>
            </a:endParaRPr>
          </a:p>
        </p:txBody>
      </p:sp>
      <p:sp>
        <p:nvSpPr>
          <p:cNvPr id="4" name="Slide Number Placeholder 3">
            <a:extLst>
              <a:ext uri="{FF2B5EF4-FFF2-40B4-BE49-F238E27FC236}">
                <a16:creationId xmlns:a16="http://schemas.microsoft.com/office/drawing/2014/main" id="{A7A592E3-818E-4FCD-AB21-32AC67B68EFE}"/>
              </a:ext>
            </a:extLst>
          </p:cNvPr>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7</a:t>
            </a:fld>
            <a:endParaRPr lang="en-IN" dirty="0"/>
          </a:p>
        </p:txBody>
      </p:sp>
      <p:pic>
        <p:nvPicPr>
          <p:cNvPr id="5" name="Picture 4">
            <a:extLst>
              <a:ext uri="{FF2B5EF4-FFF2-40B4-BE49-F238E27FC236}">
                <a16:creationId xmlns:a16="http://schemas.microsoft.com/office/drawing/2014/main" id="{714F2ED1-7B6C-4A15-99EC-B4E2C199DFF5}"/>
              </a:ext>
            </a:extLst>
          </p:cNvPr>
          <p:cNvPicPr>
            <a:picLocks noChangeAspect="1"/>
          </p:cNvPicPr>
          <p:nvPr/>
        </p:nvPicPr>
        <p:blipFill>
          <a:blip r:embed="rId2"/>
          <a:stretch>
            <a:fillRect/>
          </a:stretch>
        </p:blipFill>
        <p:spPr>
          <a:xfrm>
            <a:off x="643176" y="6216281"/>
            <a:ext cx="1512168" cy="260719"/>
          </a:xfrm>
          <a:prstGeom prst="rect">
            <a:avLst/>
          </a:prstGeom>
        </p:spPr>
      </p:pic>
      <p:pic>
        <p:nvPicPr>
          <p:cNvPr id="6" name="Picture 2" descr="175,823 Health Insurance Stock Photos, Pictures &amp; Royalty-Free Images -  iStock"/>
          <p:cNvPicPr>
            <a:picLocks noChangeAspect="1" noChangeArrowheads="1"/>
          </p:cNvPicPr>
          <p:nvPr/>
        </p:nvPicPr>
        <p:blipFill>
          <a:blip r:embed="rId3"/>
          <a:srcRect/>
          <a:stretch>
            <a:fillRect/>
          </a:stretch>
        </p:blipFill>
        <p:spPr bwMode="auto">
          <a:xfrm>
            <a:off x="8458481" y="239658"/>
            <a:ext cx="615134" cy="745094"/>
          </a:xfrm>
          <a:prstGeom prst="rect">
            <a:avLst/>
          </a:prstGeom>
          <a:noFill/>
        </p:spPr>
      </p:pic>
    </p:spTree>
    <p:extLst>
      <p:ext uri="{BB962C8B-B14F-4D97-AF65-F5344CB8AC3E}">
        <p14:creationId xmlns:p14="http://schemas.microsoft.com/office/powerpoint/2010/main" val="8689416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43BA-2EAE-46C4-B27D-9B0CFBF3ACB1}"/>
              </a:ext>
            </a:extLst>
          </p:cNvPr>
          <p:cNvSpPr>
            <a:spLocks noGrp="1"/>
          </p:cNvSpPr>
          <p:nvPr>
            <p:ph type="title"/>
          </p:nvPr>
        </p:nvSpPr>
        <p:spPr/>
        <p:txBody>
          <a:bodyPr/>
          <a:lstStyle/>
          <a:p>
            <a:r>
              <a:rPr lang="en-GB" sz="3000" b="1" dirty="0"/>
              <a:t>List of documents required for reimbursement</a:t>
            </a:r>
            <a:endParaRPr lang="en-IN" sz="3000" b="1" dirty="0"/>
          </a:p>
        </p:txBody>
      </p:sp>
      <p:sp>
        <p:nvSpPr>
          <p:cNvPr id="3" name="Content Placeholder 2">
            <a:extLst>
              <a:ext uri="{FF2B5EF4-FFF2-40B4-BE49-F238E27FC236}">
                <a16:creationId xmlns:a16="http://schemas.microsoft.com/office/drawing/2014/main" id="{53E833FB-FFC8-4AD7-97BD-63FD65AEFB18}"/>
              </a:ext>
            </a:extLst>
          </p:cNvPr>
          <p:cNvSpPr>
            <a:spLocks noGrp="1"/>
          </p:cNvSpPr>
          <p:nvPr>
            <p:ph sz="quarter" idx="1"/>
          </p:nvPr>
        </p:nvSpPr>
        <p:spPr>
          <a:xfrm>
            <a:off x="533400" y="1600200"/>
            <a:ext cx="8232648" cy="4495800"/>
          </a:xfrm>
        </p:spPr>
        <p:txBody>
          <a:bodyPr/>
          <a:lstStyle/>
          <a:p>
            <a:pPr eaLnBrk="1" hangingPunct="1">
              <a:buFont typeface="Wingdings" panose="05000000000000000000" pitchFamily="2" charset="2"/>
              <a:buChar char="Ø"/>
            </a:pPr>
            <a:r>
              <a:rPr lang="en-US" altLang="en-US" sz="1600" dirty="0">
                <a:latin typeface="+mj-lt"/>
              </a:rPr>
              <a:t>Claim Form duly filled and signed by the Employee with Insurer ID card number.  Photo ID proof of the employee and patient.</a:t>
            </a:r>
          </a:p>
          <a:p>
            <a:pPr eaLnBrk="1" hangingPunct="1">
              <a:buFont typeface="Wingdings" panose="05000000000000000000" pitchFamily="2" charset="2"/>
              <a:buChar char="Ø"/>
            </a:pPr>
            <a:r>
              <a:rPr lang="en-US" altLang="en-US" sz="1600" dirty="0">
                <a:latin typeface="+mj-lt"/>
              </a:rPr>
              <a:t>Original Discharge Summary or Discharge Certificate with seal and signature.</a:t>
            </a:r>
          </a:p>
          <a:p>
            <a:pPr eaLnBrk="1" hangingPunct="1">
              <a:buFont typeface="Wingdings" panose="05000000000000000000" pitchFamily="2" charset="2"/>
              <a:buChar char="Ø"/>
            </a:pPr>
            <a:r>
              <a:rPr lang="en-US" altLang="en-US" sz="1600" dirty="0">
                <a:latin typeface="+mj-lt"/>
              </a:rPr>
              <a:t>Original Final Hospital Bill, with break up. </a:t>
            </a:r>
          </a:p>
          <a:p>
            <a:pPr eaLnBrk="1" hangingPunct="1">
              <a:buFont typeface="Wingdings" panose="05000000000000000000" pitchFamily="2" charset="2"/>
              <a:buChar char="Ø"/>
            </a:pPr>
            <a:r>
              <a:rPr lang="en-US" altLang="en-US" sz="1600" dirty="0">
                <a:latin typeface="+mj-lt"/>
              </a:rPr>
              <a:t>Original Paid Receipt against the final Hospital Bill (Reimbursement).</a:t>
            </a:r>
          </a:p>
          <a:p>
            <a:pPr eaLnBrk="1" hangingPunct="1">
              <a:buFont typeface="Wingdings" panose="05000000000000000000" pitchFamily="2" charset="2"/>
              <a:buChar char="Ø"/>
            </a:pPr>
            <a:r>
              <a:rPr lang="en-US" altLang="en-US" sz="1600" dirty="0">
                <a:latin typeface="+mj-lt"/>
              </a:rPr>
              <a:t>Original Pharmacy bills with break up and prescriptions.</a:t>
            </a:r>
          </a:p>
          <a:p>
            <a:pPr eaLnBrk="1" hangingPunct="1">
              <a:buFont typeface="Wingdings" panose="05000000000000000000" pitchFamily="2" charset="2"/>
              <a:buChar char="Ø"/>
            </a:pPr>
            <a:r>
              <a:rPr lang="en-US" altLang="en-US" sz="1600" dirty="0">
                <a:latin typeface="+mj-lt"/>
              </a:rPr>
              <a:t>Operation Theatre (OT) expenses break up (in case of surgery).</a:t>
            </a:r>
          </a:p>
          <a:p>
            <a:pPr eaLnBrk="1" fontAlgn="auto" hangingPunct="1">
              <a:spcAft>
                <a:spcPts val="0"/>
              </a:spcAft>
              <a:buClr>
                <a:schemeClr val="accent3"/>
              </a:buClr>
              <a:buFont typeface="Wingdings" panose="05000000000000000000" pitchFamily="2" charset="2"/>
              <a:buChar char="Ø"/>
              <a:defRPr/>
            </a:pPr>
            <a:r>
              <a:rPr lang="en-US" sz="1600" dirty="0">
                <a:latin typeface="+mj-lt"/>
              </a:rPr>
              <a:t>Original bills towards Investigations done or Laboratory Bills. Investigation Reports against Laboratory bills.</a:t>
            </a:r>
          </a:p>
          <a:p>
            <a:pPr eaLnBrk="1" fontAlgn="auto" hangingPunct="1">
              <a:spcAft>
                <a:spcPts val="0"/>
              </a:spcAft>
              <a:buClr>
                <a:schemeClr val="accent3"/>
              </a:buClr>
              <a:buFont typeface="Wingdings" panose="05000000000000000000" pitchFamily="2" charset="2"/>
              <a:buChar char="Ø"/>
              <a:defRPr/>
            </a:pPr>
            <a:r>
              <a:rPr lang="en-US" sz="1600" dirty="0">
                <a:latin typeface="+mj-lt"/>
              </a:rPr>
              <a:t>IOL sticker for cataract claim, barcode sticker of stent for angioplasty claim &amp; barcode sticker of implants.</a:t>
            </a:r>
          </a:p>
          <a:p>
            <a:pPr eaLnBrk="1" fontAlgn="auto" hangingPunct="1">
              <a:spcAft>
                <a:spcPts val="0"/>
              </a:spcAft>
              <a:buClr>
                <a:schemeClr val="accent3"/>
              </a:buClr>
              <a:buFont typeface="Wingdings" panose="05000000000000000000" pitchFamily="2" charset="2"/>
              <a:buChar char="Ø"/>
              <a:defRPr/>
            </a:pPr>
            <a:r>
              <a:rPr lang="en-US" sz="1600" dirty="0">
                <a:latin typeface="+mj-lt"/>
              </a:rPr>
              <a:t>MLC / FIR copy is mandatory for accident claims. If there is no MLC/FIR registered, self declaration about accident is required. Death Certificate / Summary (In Death Case).</a:t>
            </a:r>
          </a:p>
          <a:p>
            <a:pPr eaLnBrk="1" fontAlgn="auto" hangingPunct="1">
              <a:spcAft>
                <a:spcPts val="0"/>
              </a:spcAft>
              <a:buClr>
                <a:schemeClr val="accent3"/>
              </a:buClr>
              <a:buFont typeface="Wingdings" panose="05000000000000000000" pitchFamily="2" charset="2"/>
              <a:buChar char="Ø"/>
              <a:defRPr/>
            </a:pPr>
            <a:r>
              <a:rPr lang="en-US" sz="1600" dirty="0">
                <a:latin typeface="+mj-lt"/>
              </a:rPr>
              <a:t>Passbook copy or name printed cheque leaf of the employee.</a:t>
            </a:r>
          </a:p>
          <a:p>
            <a:pPr eaLnBrk="1" hangingPunct="1">
              <a:buFont typeface="Wingdings" panose="05000000000000000000" pitchFamily="2" charset="2"/>
              <a:buChar char="Ø"/>
            </a:pPr>
            <a:endParaRPr lang="en-US" altLang="en-US" sz="1800" dirty="0">
              <a:latin typeface="+mj-lt"/>
            </a:endParaRPr>
          </a:p>
          <a:p>
            <a:pPr>
              <a:buFont typeface="Wingdings" panose="05000000000000000000" pitchFamily="2" charset="2"/>
              <a:buChar char="Ø"/>
            </a:pPr>
            <a:endParaRPr lang="en-GB" dirty="0"/>
          </a:p>
          <a:p>
            <a:pPr marL="0" indent="0">
              <a:buNone/>
            </a:pPr>
            <a:endParaRPr lang="en-IN" dirty="0"/>
          </a:p>
        </p:txBody>
      </p:sp>
      <p:sp>
        <p:nvSpPr>
          <p:cNvPr id="4" name="Slide Number Placeholder 3">
            <a:extLst>
              <a:ext uri="{FF2B5EF4-FFF2-40B4-BE49-F238E27FC236}">
                <a16:creationId xmlns:a16="http://schemas.microsoft.com/office/drawing/2014/main" id="{8B5A05E9-C165-44F6-A10E-6D79DF21039C}"/>
              </a:ext>
            </a:extLst>
          </p:cNvPr>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8</a:t>
            </a:fld>
            <a:endParaRPr lang="en-IN" dirty="0"/>
          </a:p>
        </p:txBody>
      </p:sp>
      <p:pic>
        <p:nvPicPr>
          <p:cNvPr id="6" name="Picture 2" descr="175,823 Health Insurance Stock Photos, Pictures &amp; Royalty-Free Images -  iStock"/>
          <p:cNvPicPr>
            <a:picLocks noChangeAspect="1" noChangeArrowheads="1"/>
          </p:cNvPicPr>
          <p:nvPr/>
        </p:nvPicPr>
        <p:blipFill>
          <a:blip r:embed="rId2"/>
          <a:srcRect/>
          <a:stretch>
            <a:fillRect/>
          </a:stretch>
        </p:blipFill>
        <p:spPr bwMode="auto">
          <a:xfrm>
            <a:off x="8194510" y="239658"/>
            <a:ext cx="902927" cy="745094"/>
          </a:xfrm>
          <a:prstGeom prst="rect">
            <a:avLst/>
          </a:prstGeom>
          <a:noFill/>
        </p:spPr>
      </p:pic>
      <p:pic>
        <p:nvPicPr>
          <p:cNvPr id="8" name="Picture 7">
            <a:extLst>
              <a:ext uri="{FF2B5EF4-FFF2-40B4-BE49-F238E27FC236}">
                <a16:creationId xmlns:a16="http://schemas.microsoft.com/office/drawing/2014/main" id="{714F2ED1-7B6C-4A15-99EC-B4E2C199DFF5}"/>
              </a:ext>
            </a:extLst>
          </p:cNvPr>
          <p:cNvPicPr>
            <a:picLocks noChangeAspect="1"/>
          </p:cNvPicPr>
          <p:nvPr/>
        </p:nvPicPr>
        <p:blipFill>
          <a:blip r:embed="rId3"/>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29823289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43BA-2EAE-46C4-B27D-9B0CFBF3ACB1}"/>
              </a:ext>
            </a:extLst>
          </p:cNvPr>
          <p:cNvSpPr>
            <a:spLocks noGrp="1"/>
          </p:cNvSpPr>
          <p:nvPr>
            <p:ph type="title"/>
          </p:nvPr>
        </p:nvSpPr>
        <p:spPr/>
        <p:txBody>
          <a:bodyPr/>
          <a:lstStyle/>
          <a:p>
            <a:r>
              <a:rPr lang="en-GB" sz="3200" b="1" dirty="0"/>
              <a:t>AM-EX EB team support</a:t>
            </a:r>
            <a:endParaRPr lang="en-IN" sz="3200" b="1" dirty="0"/>
          </a:p>
        </p:txBody>
      </p:sp>
      <p:sp>
        <p:nvSpPr>
          <p:cNvPr id="3" name="Content Placeholder 2">
            <a:extLst>
              <a:ext uri="{FF2B5EF4-FFF2-40B4-BE49-F238E27FC236}">
                <a16:creationId xmlns:a16="http://schemas.microsoft.com/office/drawing/2014/main" id="{53E833FB-FFC8-4AD7-97BD-63FD65AEFB18}"/>
              </a:ext>
            </a:extLst>
          </p:cNvPr>
          <p:cNvSpPr>
            <a:spLocks noGrp="1"/>
          </p:cNvSpPr>
          <p:nvPr>
            <p:ph sz="quarter" idx="1"/>
          </p:nvPr>
        </p:nvSpPr>
        <p:spPr>
          <a:xfrm>
            <a:off x="612648" y="1600199"/>
            <a:ext cx="8153400" cy="4616081"/>
          </a:xfrm>
        </p:spPr>
        <p:txBody>
          <a:bodyPr/>
          <a:lstStyle/>
          <a:p>
            <a:pPr marL="0" indent="0">
              <a:buNone/>
            </a:pPr>
            <a:r>
              <a:rPr lang="en-GB" sz="1800" dirty="0">
                <a:latin typeface="+mj-lt"/>
              </a:rPr>
              <a:t>	</a:t>
            </a:r>
            <a:r>
              <a:rPr lang="en-GB" sz="1800" b="1" dirty="0">
                <a:latin typeface="+mj-lt"/>
              </a:rPr>
              <a:t>CASHLESS</a:t>
            </a:r>
          </a:p>
          <a:p>
            <a:pPr>
              <a:buFont typeface="Wingdings" panose="05000000000000000000" pitchFamily="2" charset="2"/>
              <a:buChar char="Ø"/>
            </a:pPr>
            <a:r>
              <a:rPr lang="en-GB" sz="1800" dirty="0">
                <a:latin typeface="+mj-lt"/>
              </a:rPr>
              <a:t>Coordination with the Insurer / TPA for speedy process of cashless request</a:t>
            </a:r>
          </a:p>
          <a:p>
            <a:pPr>
              <a:buClr>
                <a:schemeClr val="tx2"/>
              </a:buClr>
              <a:buFont typeface="Wingdings" panose="05000000000000000000" pitchFamily="2" charset="2"/>
              <a:buChar char="Ø"/>
            </a:pPr>
            <a:r>
              <a:rPr lang="en-GB" sz="1800" dirty="0">
                <a:latin typeface="+mj-lt"/>
              </a:rPr>
              <a:t>Timely follow up and providing update to the members on cashless status.   </a:t>
            </a:r>
          </a:p>
          <a:p>
            <a:pPr>
              <a:buClr>
                <a:schemeClr val="tx2"/>
              </a:buClr>
              <a:buFont typeface="Wingdings" panose="05000000000000000000" pitchFamily="2" charset="2"/>
              <a:buChar char="Ø"/>
            </a:pPr>
            <a:r>
              <a:rPr lang="en-GB" sz="1800" dirty="0">
                <a:latin typeface="+mj-lt"/>
              </a:rPr>
              <a:t>Review of the status of the claim ( shortfall / rejection / approval) and confirm status provided by the TPA is correct or not.</a:t>
            </a:r>
          </a:p>
          <a:p>
            <a:pPr marL="0" indent="0">
              <a:buClr>
                <a:schemeClr val="tx2"/>
              </a:buClr>
              <a:buNone/>
            </a:pPr>
            <a:r>
              <a:rPr lang="en-GB" sz="1800" dirty="0">
                <a:latin typeface="+mj-lt"/>
              </a:rPr>
              <a:t>                  </a:t>
            </a:r>
            <a:r>
              <a:rPr lang="en-GB" sz="1800" b="1" dirty="0">
                <a:latin typeface="+mj-lt"/>
              </a:rPr>
              <a:t>REIMBURSEMENT</a:t>
            </a:r>
          </a:p>
          <a:p>
            <a:pPr>
              <a:buClr>
                <a:schemeClr val="tx2"/>
              </a:buClr>
              <a:buFont typeface="Wingdings" panose="05000000000000000000" pitchFamily="2" charset="2"/>
              <a:buChar char="Ø"/>
            </a:pPr>
            <a:r>
              <a:rPr lang="en-GB" sz="1800" dirty="0">
                <a:latin typeface="+mj-lt"/>
              </a:rPr>
              <a:t>Copies of Original documents can be uploaded to TPA portal.</a:t>
            </a:r>
          </a:p>
          <a:p>
            <a:pPr>
              <a:buClr>
                <a:schemeClr val="tx2"/>
              </a:buClr>
              <a:buFont typeface="Wingdings" panose="05000000000000000000" pitchFamily="2" charset="2"/>
              <a:buChar char="Ø"/>
            </a:pPr>
            <a:r>
              <a:rPr lang="en-GB" sz="1800" dirty="0">
                <a:latin typeface="+mj-lt"/>
              </a:rPr>
              <a:t>Ensure all mandatory documents are attached along with the claim. You may share copies of such documents to Am-ex as well so that we can also review the same when TPA raises shortfalls or recommend for rejection.  </a:t>
            </a:r>
          </a:p>
          <a:p>
            <a:pPr>
              <a:buClr>
                <a:schemeClr val="tx2"/>
              </a:buClr>
              <a:buFont typeface="Wingdings" panose="05000000000000000000" pitchFamily="2" charset="2"/>
              <a:buChar char="Ø"/>
            </a:pPr>
            <a:r>
              <a:rPr lang="en-GB" sz="1800" dirty="0">
                <a:latin typeface="+mj-lt"/>
              </a:rPr>
              <a:t>Am-ex will track all the reimbursement claims and ensure settlement is done on time.  If there is any rejection, claim will be reviewed and confirm decision is correct or not.</a:t>
            </a:r>
          </a:p>
          <a:p>
            <a:pPr>
              <a:buClr>
                <a:schemeClr val="tx2"/>
              </a:buClr>
              <a:buFont typeface="Wingdings" panose="05000000000000000000" pitchFamily="2" charset="2"/>
              <a:buChar char="Ø"/>
            </a:pPr>
            <a:endParaRPr lang="en-GB" sz="1800" dirty="0">
              <a:latin typeface="+mj-lt"/>
            </a:endParaRPr>
          </a:p>
          <a:p>
            <a:pPr>
              <a:buClr>
                <a:schemeClr val="tx2"/>
              </a:buClr>
              <a:buFont typeface="Wingdings" panose="05000000000000000000" pitchFamily="2" charset="2"/>
              <a:buChar char="Ø"/>
            </a:pPr>
            <a:endParaRPr lang="en-GB" sz="1800" dirty="0">
              <a:latin typeface="+mj-lt"/>
            </a:endParaRPr>
          </a:p>
          <a:p>
            <a:endParaRPr lang="en-IN" dirty="0"/>
          </a:p>
        </p:txBody>
      </p:sp>
      <p:sp>
        <p:nvSpPr>
          <p:cNvPr id="4" name="Slide Number Placeholder 3">
            <a:extLst>
              <a:ext uri="{FF2B5EF4-FFF2-40B4-BE49-F238E27FC236}">
                <a16:creationId xmlns:a16="http://schemas.microsoft.com/office/drawing/2014/main" id="{8B5A05E9-C165-44F6-A10E-6D79DF21039C}"/>
              </a:ext>
            </a:extLst>
          </p:cNvPr>
          <p:cNvSpPr>
            <a:spLocks noGrp="1"/>
          </p:cNvSpPr>
          <p:nvPr>
            <p:ph type="sldNum" sz="quarter" idx="12"/>
          </p:nvPr>
        </p:nvSpPr>
        <p:spPr>
          <a:solidFill>
            <a:srgbClr val="00CC00"/>
          </a:solidFill>
        </p:spPr>
        <p:txBody>
          <a:bodyPr>
            <a:normAutofit fontScale="85000" lnSpcReduction="20000"/>
          </a:bodyPr>
          <a:lstStyle/>
          <a:p>
            <a:pPr>
              <a:defRPr/>
            </a:pPr>
            <a:fld id="{CBC6B376-C8EE-42C6-A5DA-D65C215D4F01}" type="slidenum">
              <a:rPr lang="en-IN" smtClean="0"/>
              <a:pPr>
                <a:defRPr/>
              </a:pPr>
              <a:t>9</a:t>
            </a:fld>
            <a:endParaRPr lang="en-IN" dirty="0"/>
          </a:p>
        </p:txBody>
      </p:sp>
      <p:pic>
        <p:nvPicPr>
          <p:cNvPr id="5" name="Picture 4">
            <a:extLst>
              <a:ext uri="{FF2B5EF4-FFF2-40B4-BE49-F238E27FC236}">
                <a16:creationId xmlns:a16="http://schemas.microsoft.com/office/drawing/2014/main" id="{3B7FC731-79FF-4A29-A66B-B9CEB3E6E1EB}"/>
              </a:ext>
            </a:extLst>
          </p:cNvPr>
          <p:cNvPicPr>
            <a:picLocks noChangeAspect="1"/>
          </p:cNvPicPr>
          <p:nvPr/>
        </p:nvPicPr>
        <p:blipFill>
          <a:blip r:embed="rId2"/>
          <a:stretch>
            <a:fillRect/>
          </a:stretch>
        </p:blipFill>
        <p:spPr>
          <a:xfrm>
            <a:off x="643176" y="6216281"/>
            <a:ext cx="1512168" cy="260719"/>
          </a:xfrm>
          <a:prstGeom prst="rect">
            <a:avLst/>
          </a:prstGeom>
        </p:spPr>
      </p:pic>
      <p:pic>
        <p:nvPicPr>
          <p:cNvPr id="6" name="Picture 4" descr="Customer Support Helpdesk Logo Symbol Stock Illustration - Download Image  Now - iStock"/>
          <p:cNvPicPr>
            <a:picLocks noChangeAspect="1" noChangeArrowheads="1"/>
          </p:cNvPicPr>
          <p:nvPr/>
        </p:nvPicPr>
        <p:blipFill>
          <a:blip r:embed="rId3"/>
          <a:srcRect/>
          <a:stretch>
            <a:fillRect/>
          </a:stretch>
        </p:blipFill>
        <p:spPr bwMode="auto">
          <a:xfrm>
            <a:off x="7530311" y="-61906"/>
            <a:ext cx="1344591" cy="1281106"/>
          </a:xfrm>
          <a:prstGeom prst="rect">
            <a:avLst/>
          </a:prstGeom>
          <a:noFill/>
        </p:spPr>
      </p:pic>
    </p:spTree>
    <p:extLst>
      <p:ext uri="{BB962C8B-B14F-4D97-AF65-F5344CB8AC3E}">
        <p14:creationId xmlns:p14="http://schemas.microsoft.com/office/powerpoint/2010/main" val="35823892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83AAB-7E31-4F7B-B3A2-F93905171C43}"/>
              </a:ext>
            </a:extLst>
          </p:cNvPr>
          <p:cNvSpPr>
            <a:spLocks noGrp="1"/>
          </p:cNvSpPr>
          <p:nvPr>
            <p:ph type="title"/>
          </p:nvPr>
        </p:nvSpPr>
        <p:spPr/>
        <p:txBody>
          <a:bodyPr/>
          <a:lstStyle/>
          <a:p>
            <a:r>
              <a:rPr lang="en-US" sz="3200" b="1" dirty="0">
                <a:solidFill>
                  <a:schemeClr val="accent5">
                    <a:lumMod val="75000"/>
                  </a:schemeClr>
                </a:solidFill>
              </a:rPr>
              <a:t>GROUP PERSONAL ACCIDENT COVER </a:t>
            </a:r>
            <a:endParaRPr lang="en-IN" sz="3200" dirty="0"/>
          </a:p>
        </p:txBody>
      </p:sp>
      <p:sp>
        <p:nvSpPr>
          <p:cNvPr id="3" name="Content Placeholder 2">
            <a:extLst>
              <a:ext uri="{FF2B5EF4-FFF2-40B4-BE49-F238E27FC236}">
                <a16:creationId xmlns:a16="http://schemas.microsoft.com/office/drawing/2014/main" id="{11CB1908-3C1C-440A-99DF-6BABDADB07B7}"/>
              </a:ext>
            </a:extLst>
          </p:cNvPr>
          <p:cNvSpPr>
            <a:spLocks noGrp="1"/>
          </p:cNvSpPr>
          <p:nvPr>
            <p:ph sz="quarter" idx="1"/>
          </p:nvPr>
        </p:nvSpPr>
        <p:spPr/>
        <p:txBody>
          <a:bodyPr/>
          <a:lstStyle/>
          <a:p>
            <a:pPr marL="342900" indent="-342900">
              <a:buClr>
                <a:srgbClr val="92D050"/>
              </a:buClr>
              <a:buFont typeface="Wingdings" panose="05000000000000000000" pitchFamily="2" charset="2"/>
              <a:buChar char="Ø"/>
            </a:pPr>
            <a:endParaRPr lang="en-US" sz="1800" dirty="0"/>
          </a:p>
          <a:p>
            <a:pPr marL="342900" indent="-342900">
              <a:buClr>
                <a:srgbClr val="92D050"/>
              </a:buClr>
              <a:buFont typeface="Wingdings" panose="05000000000000000000" pitchFamily="2" charset="2"/>
              <a:buChar char="Ø"/>
            </a:pPr>
            <a:r>
              <a:rPr lang="en-US" sz="1800" dirty="0"/>
              <a:t>World wide cover with a Sum Insured of Rs </a:t>
            </a:r>
            <a:r>
              <a:rPr lang="en-IN" sz="1800" dirty="0"/>
              <a:t>INR 5 Lakh per employee.</a:t>
            </a:r>
          </a:p>
          <a:p>
            <a:pPr marL="342900" indent="-342900">
              <a:buClr>
                <a:srgbClr val="92D050"/>
              </a:buClr>
              <a:buFont typeface="Wingdings" panose="05000000000000000000" pitchFamily="2" charset="2"/>
              <a:buChar char="Ø"/>
            </a:pPr>
            <a:r>
              <a:rPr lang="en-US" sz="1800" dirty="0"/>
              <a:t>Death Cover – </a:t>
            </a:r>
            <a:r>
              <a:rPr lang="en-US" sz="1800" dirty="0" err="1"/>
              <a:t>Upto</a:t>
            </a:r>
            <a:r>
              <a:rPr lang="en-US" sz="1800" dirty="0"/>
              <a:t> Capital SI </a:t>
            </a:r>
          </a:p>
          <a:p>
            <a:pPr marL="342900" indent="-342900">
              <a:buClr>
                <a:srgbClr val="92D050"/>
              </a:buClr>
              <a:buFont typeface="Wingdings" panose="05000000000000000000" pitchFamily="2" charset="2"/>
              <a:buChar char="Ø"/>
            </a:pPr>
            <a:r>
              <a:rPr lang="en-US" sz="1800" dirty="0"/>
              <a:t>Permanent Total Disability -  </a:t>
            </a:r>
            <a:r>
              <a:rPr lang="en-GB" sz="1800" dirty="0"/>
              <a:t>Covered </a:t>
            </a:r>
            <a:r>
              <a:rPr lang="en-GB" sz="1800" dirty="0" err="1"/>
              <a:t>upto</a:t>
            </a:r>
            <a:r>
              <a:rPr lang="en-GB" sz="1800" dirty="0"/>
              <a:t> Capital SI (means Loss of sight of both eyes (or)loss of  both hands or feet (or) loss of 1 hand and 1 foot (or) loss of sight of one eye and loss of one hand or foot)</a:t>
            </a:r>
          </a:p>
          <a:p>
            <a:pPr marL="342900" indent="-342900">
              <a:buClr>
                <a:srgbClr val="92D050"/>
              </a:buClr>
              <a:buFont typeface="Wingdings" panose="05000000000000000000" pitchFamily="2" charset="2"/>
              <a:buChar char="Ø"/>
            </a:pPr>
            <a:r>
              <a:rPr lang="en-IN" sz="1800" dirty="0"/>
              <a:t>Permanent Partial Disability -</a:t>
            </a:r>
            <a:r>
              <a:rPr lang="en-GB" sz="1800" dirty="0"/>
              <a:t>Covered (As Per Insurer Grid)</a:t>
            </a:r>
          </a:p>
          <a:p>
            <a:pPr marL="342900" indent="-342900">
              <a:buClr>
                <a:srgbClr val="92D050"/>
              </a:buClr>
              <a:buFont typeface="Wingdings" panose="05000000000000000000" pitchFamily="2" charset="2"/>
              <a:buChar char="Ø"/>
            </a:pPr>
            <a:r>
              <a:rPr lang="en-GB" sz="1800" dirty="0"/>
              <a:t>Temporary Total Disability – </a:t>
            </a:r>
            <a:r>
              <a:rPr lang="en-GB" sz="1800" dirty="0" err="1"/>
              <a:t>Upto</a:t>
            </a:r>
            <a:r>
              <a:rPr lang="en-GB" sz="1800" dirty="0"/>
              <a:t> Rs5000/- per week to maximum of 100 weeks</a:t>
            </a:r>
          </a:p>
          <a:p>
            <a:pPr marL="342900" indent="-342900">
              <a:buClr>
                <a:srgbClr val="92D050"/>
              </a:buClr>
              <a:buFont typeface="Wingdings" panose="05000000000000000000" pitchFamily="2" charset="2"/>
              <a:buChar char="Ø"/>
            </a:pPr>
            <a:r>
              <a:rPr lang="en-US" sz="1800" dirty="0"/>
              <a:t>New employee cover  from the date of joining (if sufficient balance maintains in CD)</a:t>
            </a:r>
          </a:p>
          <a:p>
            <a:pPr marL="342900" indent="-342900">
              <a:buClr>
                <a:srgbClr val="92D050"/>
              </a:buClr>
              <a:buFont typeface="Wingdings" panose="05000000000000000000" pitchFamily="2" charset="2"/>
              <a:buChar char="Ø"/>
            </a:pPr>
            <a:r>
              <a:rPr lang="en-US" sz="1800" dirty="0"/>
              <a:t>Ambulance charges </a:t>
            </a:r>
            <a:r>
              <a:rPr lang="en-US" sz="1800" dirty="0" err="1"/>
              <a:t>upto</a:t>
            </a:r>
            <a:r>
              <a:rPr lang="en-US" sz="1800" dirty="0"/>
              <a:t> 1500/-</a:t>
            </a:r>
          </a:p>
        </p:txBody>
      </p:sp>
      <p:sp>
        <p:nvSpPr>
          <p:cNvPr id="4" name="Slide Number Placeholder 3">
            <a:extLst>
              <a:ext uri="{FF2B5EF4-FFF2-40B4-BE49-F238E27FC236}">
                <a16:creationId xmlns:a16="http://schemas.microsoft.com/office/drawing/2014/main" id="{CC4AA60A-CCBF-48E2-BCED-1036DD4775EB}"/>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10</a:t>
            </a:fld>
            <a:endParaRPr lang="en-IN" dirty="0"/>
          </a:p>
        </p:txBody>
      </p:sp>
      <p:pic>
        <p:nvPicPr>
          <p:cNvPr id="5" name="Picture 4">
            <a:extLst>
              <a:ext uri="{FF2B5EF4-FFF2-40B4-BE49-F238E27FC236}">
                <a16:creationId xmlns:a16="http://schemas.microsoft.com/office/drawing/2014/main" id="{845A5C8A-02F3-478C-8F30-BF3420799129}"/>
              </a:ext>
            </a:extLst>
          </p:cNvPr>
          <p:cNvPicPr>
            <a:picLocks noChangeAspect="1"/>
          </p:cNvPicPr>
          <p:nvPr/>
        </p:nvPicPr>
        <p:blipFill>
          <a:blip r:embed="rId2"/>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40427007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3EF6-863A-4134-91C9-02397B302059}"/>
              </a:ext>
            </a:extLst>
          </p:cNvPr>
          <p:cNvSpPr>
            <a:spLocks noGrp="1"/>
          </p:cNvSpPr>
          <p:nvPr>
            <p:ph type="title"/>
          </p:nvPr>
        </p:nvSpPr>
        <p:spPr/>
        <p:txBody>
          <a:bodyPr/>
          <a:lstStyle/>
          <a:p>
            <a:r>
              <a:rPr lang="en-US" sz="3200" b="1" dirty="0">
                <a:solidFill>
                  <a:schemeClr val="accent5">
                    <a:lumMod val="75000"/>
                  </a:schemeClr>
                </a:solidFill>
              </a:rPr>
              <a:t>GROUP PERSONAL ACCIDENT COVER </a:t>
            </a:r>
            <a:endParaRPr lang="en-IN" sz="3200" dirty="0"/>
          </a:p>
        </p:txBody>
      </p:sp>
      <p:sp>
        <p:nvSpPr>
          <p:cNvPr id="3" name="Content Placeholder 2">
            <a:extLst>
              <a:ext uri="{FF2B5EF4-FFF2-40B4-BE49-F238E27FC236}">
                <a16:creationId xmlns:a16="http://schemas.microsoft.com/office/drawing/2014/main" id="{13F68027-0538-4855-AFEC-006C708857D6}"/>
              </a:ext>
            </a:extLst>
          </p:cNvPr>
          <p:cNvSpPr>
            <a:spLocks noGrp="1"/>
          </p:cNvSpPr>
          <p:nvPr>
            <p:ph sz="quarter" idx="1"/>
          </p:nvPr>
        </p:nvSpPr>
        <p:spPr/>
        <p:txBody>
          <a:bodyPr/>
          <a:lstStyle/>
          <a:p>
            <a:pPr marL="342900" indent="-342900">
              <a:buClr>
                <a:srgbClr val="92D050"/>
              </a:buClr>
              <a:buFont typeface="Wingdings" panose="05000000000000000000" pitchFamily="2" charset="2"/>
              <a:buChar char="Ø"/>
            </a:pPr>
            <a:endParaRPr lang="en-IN" sz="1800" dirty="0"/>
          </a:p>
          <a:p>
            <a:pPr marL="342900" indent="-342900">
              <a:buClr>
                <a:srgbClr val="92D050"/>
              </a:buClr>
              <a:buFont typeface="Wingdings" panose="05000000000000000000" pitchFamily="2" charset="2"/>
              <a:buChar char="Ø"/>
            </a:pPr>
            <a:r>
              <a:rPr lang="en-IN" sz="1800" dirty="0"/>
              <a:t>Terrorism –</a:t>
            </a:r>
            <a:r>
              <a:rPr lang="en-US" sz="1800" dirty="0"/>
              <a:t> Covered</a:t>
            </a:r>
          </a:p>
          <a:p>
            <a:pPr marL="342900" indent="-342900">
              <a:buClr>
                <a:srgbClr val="92D050"/>
              </a:buClr>
              <a:buFont typeface="Wingdings" panose="05000000000000000000" pitchFamily="2" charset="2"/>
              <a:buChar char="Ø"/>
            </a:pPr>
            <a:r>
              <a:rPr lang="en-IN" sz="1800" dirty="0"/>
              <a:t>Transportation of Mortal remains-</a:t>
            </a:r>
            <a:r>
              <a:rPr lang="en-GB" sz="1800" dirty="0"/>
              <a:t> 1% of Sum Insured or Rs. 5000/- or actual expenses, whichever is less </a:t>
            </a:r>
            <a:endParaRPr lang="en-IN" sz="1800" dirty="0"/>
          </a:p>
          <a:p>
            <a:pPr marL="342900" indent="-342900">
              <a:buClr>
                <a:srgbClr val="92D050"/>
              </a:buClr>
              <a:buFont typeface="Wingdings" panose="05000000000000000000" pitchFamily="2" charset="2"/>
              <a:buChar char="Ø"/>
            </a:pPr>
            <a:r>
              <a:rPr lang="en-IN" sz="1800" dirty="0"/>
              <a:t>Funeral Expenses-</a:t>
            </a:r>
            <a:r>
              <a:rPr lang="en-GB" sz="1800" dirty="0"/>
              <a:t> 1% of Sum Insured or Rs. 5000/- or actual expenses, whichever is less </a:t>
            </a:r>
          </a:p>
          <a:p>
            <a:pPr marL="342900" indent="-342900">
              <a:buClr>
                <a:srgbClr val="92D050"/>
              </a:buClr>
              <a:buFont typeface="Wingdings" panose="05000000000000000000" pitchFamily="2" charset="2"/>
              <a:buChar char="Ø"/>
            </a:pPr>
            <a:r>
              <a:rPr lang="en-GB" sz="1800" dirty="0"/>
              <a:t>Burn injury expenses – </a:t>
            </a:r>
            <a:r>
              <a:rPr lang="en-GB" sz="1800" dirty="0" err="1"/>
              <a:t>Upto</a:t>
            </a:r>
            <a:r>
              <a:rPr lang="en-GB" sz="1800" dirty="0"/>
              <a:t> Rs25000/- </a:t>
            </a:r>
          </a:p>
          <a:p>
            <a:pPr marL="342900" indent="-342900">
              <a:buClr>
                <a:srgbClr val="92D050"/>
              </a:buClr>
              <a:buFont typeface="Wingdings" panose="05000000000000000000" pitchFamily="2" charset="2"/>
              <a:buChar char="Ø"/>
            </a:pPr>
            <a:r>
              <a:rPr lang="en-GB" sz="1800" dirty="0"/>
              <a:t>Children Education Welfare Fund for dependent children in case of Death of Employee- in case of Death of the insured, for one dependent child below 25 years of age, Rs. 10000 and in case of two dependent children below the age of 25 years, Rs. 20000. </a:t>
            </a:r>
            <a:endParaRPr lang="en-US" sz="1800" dirty="0">
              <a:solidFill>
                <a:schemeClr val="tx2"/>
              </a:solidFill>
            </a:endParaRPr>
          </a:p>
        </p:txBody>
      </p:sp>
      <p:sp>
        <p:nvSpPr>
          <p:cNvPr id="4" name="Slide Number Placeholder 3">
            <a:extLst>
              <a:ext uri="{FF2B5EF4-FFF2-40B4-BE49-F238E27FC236}">
                <a16:creationId xmlns:a16="http://schemas.microsoft.com/office/drawing/2014/main" id="{BDDBF4CC-4468-42CD-8A04-3E07CC16F96B}"/>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11</a:t>
            </a:fld>
            <a:endParaRPr lang="en-IN" dirty="0"/>
          </a:p>
        </p:txBody>
      </p:sp>
      <p:pic>
        <p:nvPicPr>
          <p:cNvPr id="5" name="Picture 4">
            <a:extLst>
              <a:ext uri="{FF2B5EF4-FFF2-40B4-BE49-F238E27FC236}">
                <a16:creationId xmlns:a16="http://schemas.microsoft.com/office/drawing/2014/main" id="{F4362BEC-0D77-437B-9F50-7B8E5A1A00BC}"/>
              </a:ext>
            </a:extLst>
          </p:cNvPr>
          <p:cNvPicPr>
            <a:picLocks noChangeAspect="1"/>
          </p:cNvPicPr>
          <p:nvPr/>
        </p:nvPicPr>
        <p:blipFill>
          <a:blip r:embed="rId2"/>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14485572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6D76C-40CE-4084-B889-3B8AA5A9C658}"/>
              </a:ext>
            </a:extLst>
          </p:cNvPr>
          <p:cNvSpPr>
            <a:spLocks noGrp="1"/>
          </p:cNvSpPr>
          <p:nvPr>
            <p:ph type="title"/>
          </p:nvPr>
        </p:nvSpPr>
        <p:spPr/>
        <p:txBody>
          <a:bodyPr/>
          <a:lstStyle/>
          <a:p>
            <a:r>
              <a:rPr lang="en-US" sz="3200" b="1" dirty="0">
                <a:solidFill>
                  <a:schemeClr val="accent5">
                    <a:lumMod val="75000"/>
                  </a:schemeClr>
                </a:solidFill>
              </a:rPr>
              <a:t>GROUP PERSONAL ACCIDENT COVER </a:t>
            </a:r>
            <a:endParaRPr lang="en-IN" sz="3200" dirty="0"/>
          </a:p>
        </p:txBody>
      </p:sp>
      <p:sp>
        <p:nvSpPr>
          <p:cNvPr id="3" name="Content Placeholder 2">
            <a:extLst>
              <a:ext uri="{FF2B5EF4-FFF2-40B4-BE49-F238E27FC236}">
                <a16:creationId xmlns:a16="http://schemas.microsoft.com/office/drawing/2014/main" id="{CCD35204-9DDC-444C-B890-3717BAB3D624}"/>
              </a:ext>
            </a:extLst>
          </p:cNvPr>
          <p:cNvSpPr>
            <a:spLocks noGrp="1"/>
          </p:cNvSpPr>
          <p:nvPr>
            <p:ph sz="quarter" idx="1"/>
          </p:nvPr>
        </p:nvSpPr>
        <p:spPr/>
        <p:txBody>
          <a:bodyPr/>
          <a:lstStyle/>
          <a:p>
            <a:pPr marL="0" indent="0">
              <a:buNone/>
            </a:pPr>
            <a:endParaRPr lang="en-IN" sz="1700" b="1" u="sng" dirty="0"/>
          </a:p>
          <a:p>
            <a:pPr marL="0" indent="0">
              <a:buNone/>
            </a:pPr>
            <a:r>
              <a:rPr lang="en-IN" sz="1700" b="1" u="sng" dirty="0"/>
              <a:t>Intimation &amp; Documents required for claim processing</a:t>
            </a:r>
          </a:p>
          <a:p>
            <a:pPr marL="0" indent="0">
              <a:buNone/>
            </a:pPr>
            <a:endParaRPr lang="en-IN" sz="1700" dirty="0"/>
          </a:p>
          <a:p>
            <a:pPr marL="0" indent="0" algn="just">
              <a:buNone/>
            </a:pPr>
            <a:r>
              <a:rPr lang="en-IN" sz="1700" dirty="0"/>
              <a:t>Upon happening of accident an intimation about the accident with incident details should be given to HR and HR should send an intimation via mail to Am-ex with incident details.  In response to the same Am-ex will provide claim form and LOD for document submission.</a:t>
            </a:r>
          </a:p>
          <a:p>
            <a:pPr marL="0" indent="0" algn="just">
              <a:buNone/>
            </a:pPr>
            <a:r>
              <a:rPr lang="en-IN" sz="1700" dirty="0"/>
              <a:t>PA claims are processed by the insurance company, they required hard copies of the same for settlement.</a:t>
            </a:r>
          </a:p>
          <a:p>
            <a:pPr marL="342900" indent="-342900">
              <a:buAutoNum type="arabicPeriod"/>
            </a:pPr>
            <a:endParaRPr lang="en-IN" sz="1700" dirty="0"/>
          </a:p>
          <a:p>
            <a:pPr marL="0" indent="0">
              <a:buNone/>
            </a:pPr>
            <a:r>
              <a:rPr lang="en-IN" sz="1700" dirty="0"/>
              <a:t>	Intimation should sent to : </a:t>
            </a:r>
            <a:r>
              <a:rPr lang="en-IN" sz="1700" dirty="0">
                <a:hlinkClick r:id="rId2"/>
              </a:rPr>
              <a:t>ebclaimskoc4@am-exinsure.com</a:t>
            </a:r>
            <a:endParaRPr lang="en-IN" sz="1700" dirty="0"/>
          </a:p>
          <a:p>
            <a:pPr marL="0" indent="0">
              <a:buNone/>
            </a:pPr>
            <a:r>
              <a:rPr lang="en-IN" sz="1700" dirty="0"/>
              <a:t>			   CC : </a:t>
            </a:r>
            <a:r>
              <a:rPr lang="en-IN" sz="1700" dirty="0">
                <a:hlinkClick r:id="rId3"/>
              </a:rPr>
              <a:t>anju.george@am-exinsure.com</a:t>
            </a:r>
            <a:endParaRPr lang="en-IN" sz="1700" dirty="0"/>
          </a:p>
          <a:p>
            <a:pPr marL="0" indent="0">
              <a:buNone/>
            </a:pPr>
            <a:endParaRPr lang="en-IN" sz="1700" dirty="0"/>
          </a:p>
          <a:p>
            <a:pPr marL="342900" indent="-342900">
              <a:buAutoNum type="arabicPeriod"/>
            </a:pPr>
            <a:endParaRPr lang="en-IN" sz="1700" dirty="0"/>
          </a:p>
          <a:p>
            <a:pPr marL="0" indent="0">
              <a:buNone/>
            </a:pPr>
            <a:endParaRPr lang="en-IN" sz="1700" dirty="0"/>
          </a:p>
        </p:txBody>
      </p:sp>
      <p:sp>
        <p:nvSpPr>
          <p:cNvPr id="4" name="Slide Number Placeholder 3">
            <a:extLst>
              <a:ext uri="{FF2B5EF4-FFF2-40B4-BE49-F238E27FC236}">
                <a16:creationId xmlns:a16="http://schemas.microsoft.com/office/drawing/2014/main" id="{A29DCFB0-86A2-44B7-BE20-767249783556}"/>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12</a:t>
            </a:fld>
            <a:endParaRPr lang="en-IN" dirty="0"/>
          </a:p>
        </p:txBody>
      </p:sp>
      <p:pic>
        <p:nvPicPr>
          <p:cNvPr id="5" name="Picture 4">
            <a:extLst>
              <a:ext uri="{FF2B5EF4-FFF2-40B4-BE49-F238E27FC236}">
                <a16:creationId xmlns:a16="http://schemas.microsoft.com/office/drawing/2014/main" id="{4BA6331F-8727-4423-8438-35D49F8108B7}"/>
              </a:ext>
            </a:extLst>
          </p:cNvPr>
          <p:cNvPicPr>
            <a:picLocks noChangeAspect="1"/>
          </p:cNvPicPr>
          <p:nvPr/>
        </p:nvPicPr>
        <p:blipFill>
          <a:blip r:embed="rId4"/>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17940509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B354-80F5-45EB-B6F0-0D86F3536D17}"/>
              </a:ext>
            </a:extLst>
          </p:cNvPr>
          <p:cNvSpPr>
            <a:spLocks noGrp="1"/>
          </p:cNvSpPr>
          <p:nvPr>
            <p:ph type="title"/>
          </p:nvPr>
        </p:nvSpPr>
        <p:spPr/>
        <p:txBody>
          <a:bodyPr/>
          <a:lstStyle/>
          <a:p>
            <a:r>
              <a:rPr lang="en-US" sz="3200" b="1" dirty="0">
                <a:solidFill>
                  <a:schemeClr val="accent5">
                    <a:lumMod val="75000"/>
                  </a:schemeClr>
                </a:solidFill>
              </a:rPr>
              <a:t>GPA – Documents required for TTD – Weekly Compensation </a:t>
            </a:r>
            <a:endParaRPr lang="en-IN" sz="3200" dirty="0"/>
          </a:p>
        </p:txBody>
      </p:sp>
      <p:sp>
        <p:nvSpPr>
          <p:cNvPr id="3" name="Content Placeholder 2">
            <a:extLst>
              <a:ext uri="{FF2B5EF4-FFF2-40B4-BE49-F238E27FC236}">
                <a16:creationId xmlns:a16="http://schemas.microsoft.com/office/drawing/2014/main" id="{16C2B4FC-CA94-4579-B4C3-FA6BE29DAF0C}"/>
              </a:ext>
            </a:extLst>
          </p:cNvPr>
          <p:cNvSpPr>
            <a:spLocks noGrp="1"/>
          </p:cNvSpPr>
          <p:nvPr>
            <p:ph sz="quarter" idx="1"/>
          </p:nvPr>
        </p:nvSpPr>
        <p:spPr/>
        <p:txBody>
          <a:bodyPr/>
          <a:lstStyle/>
          <a:p>
            <a:pPr lvl="0">
              <a:buFont typeface="Wingdings" panose="05000000000000000000" pitchFamily="2" charset="2"/>
              <a:buChar char="Ø"/>
            </a:pPr>
            <a:endParaRPr lang="en-US"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endParaRPr lang="en-US"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Duly filled Claim form.</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Medical certificate duly filled by the treating Dr.</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Treatment sheet / Discharge summary </a:t>
            </a: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Investigation reports – Xray film in case of fracture</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Leave certificate from the employer</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Fitness certificate from the treating Dr.</a:t>
            </a: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Copy of Employee ID, Valid license if the claimant was riding the vehicle</a:t>
            </a: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Cancelled cheque leaf/ bank passbook front page.</a:t>
            </a:r>
            <a:endParaRPr lang="en-IN" sz="1800" dirty="0">
              <a:solidFill>
                <a:schemeClr val="tx2"/>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IN" sz="1800" dirty="0"/>
          </a:p>
        </p:txBody>
      </p:sp>
      <p:sp>
        <p:nvSpPr>
          <p:cNvPr id="4" name="Slide Number Placeholder 3">
            <a:extLst>
              <a:ext uri="{FF2B5EF4-FFF2-40B4-BE49-F238E27FC236}">
                <a16:creationId xmlns:a16="http://schemas.microsoft.com/office/drawing/2014/main" id="{90372A44-BC02-4978-9E25-AE4F155D49E5}"/>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13</a:t>
            </a:fld>
            <a:endParaRPr lang="en-IN" dirty="0"/>
          </a:p>
        </p:txBody>
      </p:sp>
      <p:pic>
        <p:nvPicPr>
          <p:cNvPr id="5" name="Picture 4">
            <a:extLst>
              <a:ext uri="{FF2B5EF4-FFF2-40B4-BE49-F238E27FC236}">
                <a16:creationId xmlns:a16="http://schemas.microsoft.com/office/drawing/2014/main" id="{6E46D4AC-C604-4CE0-A89E-02B43DD7D434}"/>
              </a:ext>
            </a:extLst>
          </p:cNvPr>
          <p:cNvPicPr>
            <a:picLocks noChangeAspect="1"/>
          </p:cNvPicPr>
          <p:nvPr/>
        </p:nvPicPr>
        <p:blipFill>
          <a:blip r:embed="rId2"/>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3850593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B354-80F5-45EB-B6F0-0D86F3536D17}"/>
              </a:ext>
            </a:extLst>
          </p:cNvPr>
          <p:cNvSpPr>
            <a:spLocks noGrp="1"/>
          </p:cNvSpPr>
          <p:nvPr>
            <p:ph type="title"/>
          </p:nvPr>
        </p:nvSpPr>
        <p:spPr/>
        <p:txBody>
          <a:bodyPr/>
          <a:lstStyle/>
          <a:p>
            <a:r>
              <a:rPr lang="en-US" sz="3200" b="1" dirty="0">
                <a:solidFill>
                  <a:schemeClr val="accent5">
                    <a:lumMod val="75000"/>
                  </a:schemeClr>
                </a:solidFill>
              </a:rPr>
              <a:t>GPA – Documents required for Death Claim </a:t>
            </a:r>
            <a:endParaRPr lang="en-IN" sz="3200" dirty="0"/>
          </a:p>
        </p:txBody>
      </p:sp>
      <p:sp>
        <p:nvSpPr>
          <p:cNvPr id="3" name="Content Placeholder 2">
            <a:extLst>
              <a:ext uri="{FF2B5EF4-FFF2-40B4-BE49-F238E27FC236}">
                <a16:creationId xmlns:a16="http://schemas.microsoft.com/office/drawing/2014/main" id="{16C2B4FC-CA94-4579-B4C3-FA6BE29DAF0C}"/>
              </a:ext>
            </a:extLst>
          </p:cNvPr>
          <p:cNvSpPr>
            <a:spLocks noGrp="1"/>
          </p:cNvSpPr>
          <p:nvPr>
            <p:ph sz="quarter" idx="1"/>
          </p:nvPr>
        </p:nvSpPr>
        <p:spPr/>
        <p:txBody>
          <a:bodyPr/>
          <a:lstStyle/>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Claim Intimation letter / Claim form.</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Attested copy of Death Certificate.</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FIR – attested copy</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Post Mortem Certificate – attested copy</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Legal Heirship Certificate – originals /attested by the Notary</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NOC from legal heir for effecting payment to nominee</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ID Proof of nominee and deceased person.</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Account details of the nominee</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Medical Certificate if any </a:t>
            </a:r>
            <a:endParaRPr lang="en-IN" sz="1800" dirty="0">
              <a:solidFill>
                <a:schemeClr val="tx2"/>
              </a:solidFill>
              <a:latin typeface="Times New Roman" panose="02020603050405020304" pitchFamily="18" charset="0"/>
              <a:ea typeface="Times New Roman" panose="02020603050405020304" pitchFamily="18" charset="0"/>
            </a:endParaRPr>
          </a:p>
          <a:p>
            <a:pPr lvl="0">
              <a:buFont typeface="Wingdings" panose="05000000000000000000" pitchFamily="2" charset="2"/>
              <a:buChar char="Ø"/>
            </a:pPr>
            <a:r>
              <a:rPr lang="en-US" sz="1800" dirty="0">
                <a:solidFill>
                  <a:schemeClr val="tx2"/>
                </a:solidFill>
                <a:latin typeface="Times New Roman" panose="02020603050405020304" pitchFamily="18" charset="0"/>
                <a:ea typeface="Times New Roman" panose="02020603050405020304" pitchFamily="18" charset="0"/>
              </a:rPr>
              <a:t>Medical Records , doctors medical reports if any</a:t>
            </a:r>
            <a:endParaRPr lang="en-IN" sz="1800" dirty="0">
              <a:solidFill>
                <a:schemeClr val="tx2"/>
              </a:solidFill>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IN" sz="1800" dirty="0"/>
          </a:p>
        </p:txBody>
      </p:sp>
      <p:sp>
        <p:nvSpPr>
          <p:cNvPr id="4" name="Slide Number Placeholder 3">
            <a:extLst>
              <a:ext uri="{FF2B5EF4-FFF2-40B4-BE49-F238E27FC236}">
                <a16:creationId xmlns:a16="http://schemas.microsoft.com/office/drawing/2014/main" id="{90372A44-BC02-4978-9E25-AE4F155D49E5}"/>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14</a:t>
            </a:fld>
            <a:endParaRPr lang="en-IN" dirty="0"/>
          </a:p>
        </p:txBody>
      </p:sp>
      <p:pic>
        <p:nvPicPr>
          <p:cNvPr id="5" name="Picture 4">
            <a:extLst>
              <a:ext uri="{FF2B5EF4-FFF2-40B4-BE49-F238E27FC236}">
                <a16:creationId xmlns:a16="http://schemas.microsoft.com/office/drawing/2014/main" id="{6E46D4AC-C604-4CE0-A89E-02B43DD7D434}"/>
              </a:ext>
            </a:extLst>
          </p:cNvPr>
          <p:cNvPicPr>
            <a:picLocks noChangeAspect="1"/>
          </p:cNvPicPr>
          <p:nvPr/>
        </p:nvPicPr>
        <p:blipFill>
          <a:blip r:embed="rId2"/>
          <a:stretch>
            <a:fillRect/>
          </a:stretch>
        </p:blipFill>
        <p:spPr>
          <a:xfrm>
            <a:off x="643176" y="6216281"/>
            <a:ext cx="1512168" cy="260719"/>
          </a:xfrm>
          <a:prstGeom prst="rect">
            <a:avLst/>
          </a:prstGeom>
        </p:spPr>
      </p:pic>
    </p:spTree>
    <p:extLst>
      <p:ext uri="{BB962C8B-B14F-4D97-AF65-F5344CB8AC3E}">
        <p14:creationId xmlns:p14="http://schemas.microsoft.com/office/powerpoint/2010/main" val="34778819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DC0C3-CA00-4CC6-BD26-6863239BC5D4}"/>
              </a:ext>
            </a:extLst>
          </p:cNvPr>
          <p:cNvSpPr>
            <a:spLocks noGrp="1"/>
          </p:cNvSpPr>
          <p:nvPr>
            <p:ph type="title"/>
          </p:nvPr>
        </p:nvSpPr>
        <p:spPr/>
        <p:txBody>
          <a:bodyPr/>
          <a:lstStyle/>
          <a:p>
            <a:r>
              <a:rPr lang="en-US" sz="3200" b="1" dirty="0">
                <a:solidFill>
                  <a:schemeClr val="accent5">
                    <a:lumMod val="75000"/>
                  </a:schemeClr>
                </a:solidFill>
              </a:rPr>
              <a:t>CONTACT MATRIX  OF AM-EX</a:t>
            </a:r>
            <a:endParaRPr lang="en-IN" sz="3200" dirty="0"/>
          </a:p>
        </p:txBody>
      </p:sp>
      <p:sp>
        <p:nvSpPr>
          <p:cNvPr id="3" name="Content Placeholder 2">
            <a:extLst>
              <a:ext uri="{FF2B5EF4-FFF2-40B4-BE49-F238E27FC236}">
                <a16:creationId xmlns:a16="http://schemas.microsoft.com/office/drawing/2014/main" id="{80FC2CA1-E598-4F02-A984-198862A112A9}"/>
              </a:ext>
            </a:extLst>
          </p:cNvPr>
          <p:cNvSpPr>
            <a:spLocks noGrp="1"/>
          </p:cNvSpPr>
          <p:nvPr>
            <p:ph sz="quarter" idx="1"/>
          </p:nvPr>
        </p:nvSpPr>
        <p:spPr>
          <a:ln>
            <a:solidFill>
              <a:schemeClr val="tx2">
                <a:lumMod val="75000"/>
              </a:schemeClr>
            </a:solidFill>
          </a:ln>
        </p:spPr>
        <p:txBody>
          <a:bodyPr/>
          <a:lstStyle/>
          <a:p>
            <a:pPr marL="0" indent="0" algn="l">
              <a:buNone/>
            </a:pPr>
            <a:endParaRPr lang="en-GB" sz="1800" b="1" i="0" dirty="0">
              <a:solidFill>
                <a:srgbClr val="222222"/>
              </a:solidFill>
              <a:effectLst/>
              <a:latin typeface="+mj-lt"/>
            </a:endParaRPr>
          </a:p>
          <a:p>
            <a:pPr marL="0" indent="0" algn="l">
              <a:buNone/>
            </a:pPr>
            <a:r>
              <a:rPr lang="en-GB" sz="1800" b="1" i="0" dirty="0">
                <a:solidFill>
                  <a:srgbClr val="222222"/>
                </a:solidFill>
                <a:effectLst/>
                <a:latin typeface="+mj-lt"/>
              </a:rPr>
              <a:t>CONTACT POINT               </a:t>
            </a:r>
            <a:r>
              <a:rPr lang="en-GB" sz="1800" b="0" i="0" dirty="0">
                <a:solidFill>
                  <a:srgbClr val="222222"/>
                </a:solidFill>
                <a:effectLst/>
                <a:latin typeface="+mj-lt"/>
              </a:rPr>
              <a:t>:</a:t>
            </a:r>
            <a:r>
              <a:rPr lang="en-US" sz="1800" dirty="0">
                <a:latin typeface="+mj-lt"/>
              </a:rPr>
              <a:t>Mr. </a:t>
            </a:r>
            <a:r>
              <a:rPr lang="en-US" sz="1800" dirty="0" err="1">
                <a:latin typeface="+mj-lt"/>
              </a:rPr>
              <a:t>Renil</a:t>
            </a:r>
            <a:r>
              <a:rPr lang="en-US" sz="1800" dirty="0">
                <a:latin typeface="+mj-lt"/>
              </a:rPr>
              <a:t> </a:t>
            </a:r>
            <a:r>
              <a:rPr lang="en-US" sz="1800" dirty="0" err="1">
                <a:latin typeface="+mj-lt"/>
              </a:rPr>
              <a:t>Rony</a:t>
            </a:r>
            <a:endParaRPr lang="en-US" sz="1800" dirty="0">
              <a:latin typeface="+mj-lt"/>
            </a:endParaRPr>
          </a:p>
          <a:p>
            <a:pPr marL="0" indent="0">
              <a:buClr>
                <a:schemeClr val="accent6">
                  <a:lumMod val="75000"/>
                </a:schemeClr>
              </a:buClr>
              <a:buNone/>
            </a:pPr>
            <a:r>
              <a:rPr lang="en-US" sz="1800" dirty="0">
                <a:solidFill>
                  <a:schemeClr val="accent5">
                    <a:lumMod val="75000"/>
                  </a:schemeClr>
                </a:solidFill>
                <a:latin typeface="+mj-lt"/>
              </a:rPr>
              <a:t>                                             </a:t>
            </a:r>
            <a:r>
              <a:rPr lang="en-US" sz="1800" dirty="0">
                <a:latin typeface="+mj-lt"/>
              </a:rPr>
              <a:t>Contact No:8606175999 </a:t>
            </a:r>
            <a:r>
              <a:rPr lang="en-US" sz="1800" dirty="0">
                <a:solidFill>
                  <a:srgbClr val="002060"/>
                </a:solidFill>
                <a:latin typeface="+mj-lt"/>
                <a:hlinkClick r:id="rId2"/>
              </a:rPr>
              <a:t>/</a:t>
            </a:r>
            <a:r>
              <a:rPr lang="en-US" sz="1800" i="1" u="sng" dirty="0">
                <a:solidFill>
                  <a:srgbClr val="002060"/>
                </a:solidFill>
                <a:latin typeface="+mj-lt"/>
                <a:hlinkClick r:id="rId2"/>
              </a:rPr>
              <a:t>gmccare@am-exinsure.com</a:t>
            </a:r>
            <a:endParaRPr lang="en-US" sz="1800" i="1" u="sng" dirty="0">
              <a:solidFill>
                <a:srgbClr val="002060"/>
              </a:solidFill>
              <a:latin typeface="+mj-lt"/>
            </a:endParaRPr>
          </a:p>
          <a:p>
            <a:pPr marL="0" indent="0">
              <a:buClr>
                <a:schemeClr val="accent6">
                  <a:lumMod val="75000"/>
                </a:schemeClr>
              </a:buClr>
              <a:buNone/>
            </a:pPr>
            <a:endParaRPr lang="en-US" sz="1800" i="1" u="sng" dirty="0">
              <a:solidFill>
                <a:srgbClr val="002060"/>
              </a:solidFill>
              <a:latin typeface="+mj-lt"/>
            </a:endParaRPr>
          </a:p>
          <a:p>
            <a:pPr marL="0" indent="0">
              <a:buClr>
                <a:schemeClr val="accent6">
                  <a:lumMod val="75000"/>
                </a:schemeClr>
              </a:buClr>
              <a:buNone/>
            </a:pPr>
            <a:r>
              <a:rPr lang="en-US" sz="1800" kern="0" dirty="0">
                <a:latin typeface="+mj-lt"/>
              </a:rPr>
              <a:t>OUR OFFICE ADDRESS:-</a:t>
            </a:r>
          </a:p>
          <a:p>
            <a:pPr marL="0" indent="0" eaLnBrk="0" hangingPunct="0">
              <a:spcBef>
                <a:spcPct val="20000"/>
              </a:spcBef>
              <a:buNone/>
              <a:defRPr/>
            </a:pPr>
            <a:r>
              <a:rPr lang="en-US" sz="1800" b="1" kern="0" dirty="0">
                <a:latin typeface="+mj-lt"/>
              </a:rPr>
              <a:t>AM-EX INSURANCE BROKERS (INDIA) PVT LTD</a:t>
            </a:r>
          </a:p>
          <a:p>
            <a:pPr marL="0" indent="0" eaLnBrk="0" hangingPunct="0">
              <a:spcBef>
                <a:spcPct val="20000"/>
              </a:spcBef>
              <a:buNone/>
              <a:defRPr/>
            </a:pPr>
            <a:r>
              <a:rPr lang="en-US" sz="1800" b="1" kern="0" dirty="0">
                <a:latin typeface="+mj-lt"/>
              </a:rPr>
              <a:t>FRUITOMANS BUILDING, N H BYPASS, VENNALA</a:t>
            </a:r>
          </a:p>
          <a:p>
            <a:pPr marL="0" indent="0" eaLnBrk="0" hangingPunct="0">
              <a:spcBef>
                <a:spcPct val="20000"/>
              </a:spcBef>
              <a:buNone/>
              <a:defRPr/>
            </a:pPr>
            <a:r>
              <a:rPr lang="en-US" sz="1800" b="1" kern="0" dirty="0">
                <a:latin typeface="+mj-lt"/>
              </a:rPr>
              <a:t>KOCHI – 682028</a:t>
            </a:r>
          </a:p>
          <a:p>
            <a:pPr marL="0" indent="0" eaLnBrk="0" hangingPunct="0">
              <a:spcBef>
                <a:spcPct val="20000"/>
              </a:spcBef>
              <a:buNone/>
              <a:defRPr/>
            </a:pPr>
            <a:r>
              <a:rPr lang="en-US" sz="1800" b="1" kern="0" dirty="0">
                <a:latin typeface="+mj-lt"/>
              </a:rPr>
              <a:t>TEL : 0484 - 2806750</a:t>
            </a:r>
          </a:p>
          <a:p>
            <a:pPr marL="0" indent="0">
              <a:buClr>
                <a:schemeClr val="accent6">
                  <a:lumMod val="75000"/>
                </a:schemeClr>
              </a:buClr>
              <a:buNone/>
            </a:pPr>
            <a:endParaRPr lang="en-US" dirty="0">
              <a:solidFill>
                <a:schemeClr val="accent5">
                  <a:lumMod val="75000"/>
                </a:schemeClr>
              </a:solidFill>
              <a:latin typeface="Cambria" panose="02040503050406030204" pitchFamily="18" charset="0"/>
            </a:endParaRPr>
          </a:p>
        </p:txBody>
      </p:sp>
      <p:sp>
        <p:nvSpPr>
          <p:cNvPr id="4" name="Slide Number Placeholder 3">
            <a:extLst>
              <a:ext uri="{FF2B5EF4-FFF2-40B4-BE49-F238E27FC236}">
                <a16:creationId xmlns:a16="http://schemas.microsoft.com/office/drawing/2014/main" id="{FC8811E7-0268-4B3A-82C3-BF2B6260FC73}"/>
              </a:ext>
            </a:extLst>
          </p:cNvPr>
          <p:cNvSpPr>
            <a:spLocks noGrp="1"/>
          </p:cNvSpPr>
          <p:nvPr>
            <p:ph type="sldNum" sz="quarter" idx="12"/>
          </p:nvPr>
        </p:nvSpPr>
        <p:spPr/>
        <p:txBody>
          <a:bodyPr>
            <a:normAutofit fontScale="85000" lnSpcReduction="20000"/>
          </a:bodyPr>
          <a:lstStyle/>
          <a:p>
            <a:pPr>
              <a:defRPr/>
            </a:pPr>
            <a:fld id="{CBC6B376-C8EE-42C6-A5DA-D65C215D4F01}" type="slidenum">
              <a:rPr lang="en-IN" smtClean="0"/>
              <a:pPr>
                <a:defRPr/>
              </a:pPr>
              <a:t>15</a:t>
            </a:fld>
            <a:endParaRPr lang="en-IN" dirty="0"/>
          </a:p>
        </p:txBody>
      </p:sp>
      <p:pic>
        <p:nvPicPr>
          <p:cNvPr id="5" name="Picture 4">
            <a:extLst>
              <a:ext uri="{FF2B5EF4-FFF2-40B4-BE49-F238E27FC236}">
                <a16:creationId xmlns:a16="http://schemas.microsoft.com/office/drawing/2014/main" id="{7444F48A-069C-4B68-99D6-0980FCDA951B}"/>
              </a:ext>
            </a:extLst>
          </p:cNvPr>
          <p:cNvPicPr>
            <a:picLocks noChangeAspect="1"/>
          </p:cNvPicPr>
          <p:nvPr/>
        </p:nvPicPr>
        <p:blipFill>
          <a:blip r:embed="rId3"/>
          <a:stretch>
            <a:fillRect/>
          </a:stretch>
        </p:blipFill>
        <p:spPr>
          <a:xfrm>
            <a:off x="643176" y="6216281"/>
            <a:ext cx="1512168" cy="260719"/>
          </a:xfrm>
          <a:prstGeom prst="rect">
            <a:avLst/>
          </a:prstGeom>
        </p:spPr>
      </p:pic>
      <p:pic>
        <p:nvPicPr>
          <p:cNvPr id="4100" name="Picture 4" descr="Customer Support Helpdesk Logo Symbol Stock Illustration - Download Image  Now - iStock"/>
          <p:cNvPicPr>
            <a:picLocks noChangeAspect="1" noChangeArrowheads="1"/>
          </p:cNvPicPr>
          <p:nvPr/>
        </p:nvPicPr>
        <p:blipFill>
          <a:blip r:embed="rId4"/>
          <a:srcRect/>
          <a:stretch>
            <a:fillRect/>
          </a:stretch>
        </p:blipFill>
        <p:spPr bwMode="auto">
          <a:xfrm>
            <a:off x="6858016" y="0"/>
            <a:ext cx="1344591" cy="1281106"/>
          </a:xfrm>
          <a:prstGeom prst="rect">
            <a:avLst/>
          </a:prstGeom>
          <a:noFill/>
        </p:spPr>
      </p:pic>
    </p:spTree>
    <p:extLst>
      <p:ext uri="{BB962C8B-B14F-4D97-AF65-F5344CB8AC3E}">
        <p14:creationId xmlns:p14="http://schemas.microsoft.com/office/powerpoint/2010/main" val="18509265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solidFill>
            <a:srgbClr val="00CC00"/>
          </a:solidFill>
        </p:spPr>
        <p:txBody>
          <a:bodyPr>
            <a:normAutofit fontScale="85000" lnSpcReduction="20000"/>
          </a:bodyPr>
          <a:lstStyle/>
          <a:p>
            <a:pPr>
              <a:defRPr/>
            </a:pPr>
            <a:fld id="{6FDD8346-C753-435C-8D2D-7A113FA50049}" type="slidenum">
              <a:rPr lang="en-US"/>
              <a:pPr>
                <a:defRPr/>
              </a:pPr>
              <a:t>16</a:t>
            </a:fld>
            <a:endParaRPr lang="en-US" dirty="0"/>
          </a:p>
        </p:txBody>
      </p:sp>
      <p:pic>
        <p:nvPicPr>
          <p:cNvPr id="34819" name="Picture 2" descr="C:\Users\dell\Pictures\thank_you_clip_art_round_stickers_153336.jpg"/>
          <p:cNvPicPr>
            <a:picLocks noChangeAspect="1" noChangeArrowheads="1"/>
          </p:cNvPicPr>
          <p:nvPr/>
        </p:nvPicPr>
        <p:blipFill>
          <a:blip r:embed="rId2"/>
          <a:srcRect/>
          <a:stretch>
            <a:fillRect/>
          </a:stretch>
        </p:blipFill>
        <p:spPr bwMode="auto">
          <a:xfrm>
            <a:off x="4556125" y="1085850"/>
            <a:ext cx="4048125" cy="3790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3">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25CB445E2E3304C99676D9BF3258DFA" ma:contentTypeVersion="0" ma:contentTypeDescription="Create a new document." ma:contentTypeScope="" ma:versionID="b673f8fc67696fbfb0b30f5917cbc25b">
  <xsd:schema xmlns:xsd="http://www.w3.org/2001/XMLSchema" xmlns:xs="http://www.w3.org/2001/XMLSchema" xmlns:p="http://schemas.microsoft.com/office/2006/metadata/properties" targetNamespace="http://schemas.microsoft.com/office/2006/metadata/properties" ma:root="true" ma:fieldsID="6ff03dde4259c08ff71d8d05c94e2e9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84058E-6107-4F8A-9E57-CA59E33BC4EB}"/>
</file>

<file path=customXml/itemProps2.xml><?xml version="1.0" encoding="utf-8"?>
<ds:datastoreItem xmlns:ds="http://schemas.openxmlformats.org/officeDocument/2006/customXml" ds:itemID="{1DFFD209-B1D5-467A-99A7-84F4F2DD97D0}"/>
</file>

<file path=customXml/itemProps3.xml><?xml version="1.0" encoding="utf-8"?>
<ds:datastoreItem xmlns:ds="http://schemas.openxmlformats.org/officeDocument/2006/customXml" ds:itemID="{28B59523-E488-46E1-86B9-39F28FE8BE1E}"/>
</file>

<file path=docProps/app.xml><?xml version="1.0" encoding="utf-8"?>
<Properties xmlns="http://schemas.openxmlformats.org/officeDocument/2006/extended-properties" xmlns:vt="http://schemas.openxmlformats.org/officeDocument/2006/docPropsVTypes">
  <Template>Flow</Template>
  <TotalTime>8369</TotalTime>
  <Words>1704</Words>
  <Application>Microsoft Office PowerPoint</Application>
  <PresentationFormat>On-screen Show (4:3)</PresentationFormat>
  <Paragraphs>169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Book Antiqua</vt:lpstr>
      <vt:lpstr>Bookman Old Style</vt:lpstr>
      <vt:lpstr>Calibri</vt:lpstr>
      <vt:lpstr>Cambria</vt:lpstr>
      <vt:lpstr>Times New Roman</vt:lpstr>
      <vt:lpstr>Wingdings</vt:lpstr>
      <vt:lpstr>Wingdings 2</vt:lpstr>
      <vt:lpstr>Median</vt:lpstr>
      <vt:lpstr>        Tailor made Group medi claim program for                         employees &amp; family of                       M/S  CLAYSYS TECHNOLOGIES PVT LTD </vt:lpstr>
      <vt:lpstr> POLICY DETAILS – GROUP MEDICLAIM EMPLOYEE</vt:lpstr>
      <vt:lpstr>Coverages  - Employee Policy</vt:lpstr>
      <vt:lpstr>Coverages  - Employee Policy</vt:lpstr>
      <vt:lpstr>What is not covered – Major exclusions</vt:lpstr>
      <vt:lpstr>What is not covered – Major exclusions</vt:lpstr>
      <vt:lpstr> Cashless: Easy Steps to do for Faster approval </vt:lpstr>
      <vt:lpstr>List of documents required for reimbursement</vt:lpstr>
      <vt:lpstr>AM-EX EB team support</vt:lpstr>
      <vt:lpstr>GROUP PERSONAL ACCIDENT COVER </vt:lpstr>
      <vt:lpstr>GROUP PERSONAL ACCIDENT COVER </vt:lpstr>
      <vt:lpstr>GROUP PERSONAL ACCIDENT COVER </vt:lpstr>
      <vt:lpstr>GPA – Documents required for TTD – Weekly Compensation </vt:lpstr>
      <vt:lpstr>GPA – Documents required for Death Claim </vt:lpstr>
      <vt:lpstr>CONTACT MATRIX  OF AM-EX</vt:lpstr>
      <vt:lpstr>PowerPoint Presentation</vt:lpstr>
    </vt:vector>
  </TitlesOfParts>
  <Company>XYZ</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ABC</dc:creator>
  <cp:lastModifiedBy>Jayaraj Subramanian</cp:lastModifiedBy>
  <cp:revision>653</cp:revision>
  <dcterms:created xsi:type="dcterms:W3CDTF">2013-10-25T09:57:10Z</dcterms:created>
  <dcterms:modified xsi:type="dcterms:W3CDTF">2022-12-20T11:24:33Z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0x010100425CB445E2E3304C99676D9BF3258DFA</vt:lpwstr>
  </property>
</Properties>
</file>